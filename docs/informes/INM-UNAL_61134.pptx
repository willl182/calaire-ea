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72" r:id="rId6"/>
    <p:sldId id="259" r:id="rId7"/>
    <p:sldId id="270" r:id="rId8"/>
    <p:sldId id="260" r:id="rId9"/>
    <p:sldId id="264" r:id="rId10"/>
    <p:sldId id="265" r:id="rId11"/>
    <p:sldId id="262" r:id="rId12"/>
    <p:sldId id="263" r:id="rId13"/>
    <p:sldId id="267" r:id="rId14"/>
    <p:sldId id="273" r:id="rId15"/>
    <p:sldId id="274" r:id="rId16"/>
    <p:sldId id="268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4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386DF-3494-439C-873F-FDF9D01EE973}" type="datetimeFigureOut">
              <a:rPr lang="es-CO" smtClean="0"/>
              <a:t>8/07/2026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9ACD8-0D0D-4C6F-B00E-B0258E1B2C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45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A11347-5C36-F231-0AC2-F38248DA4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0486" y="2038121"/>
            <a:ext cx="4745884" cy="1694654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9163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33E59-33D3-C13F-9606-91E0D4BF8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460" y="810454"/>
            <a:ext cx="9144000" cy="615383"/>
          </a:xfrm>
        </p:spPr>
        <p:txBody>
          <a:bodyPr anchor="b">
            <a:normAutofit/>
          </a:bodyPr>
          <a:lstStyle>
            <a:lvl1pPr algn="ctr">
              <a:defRPr sz="2000" b="1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B17E0D-9029-4A70-FB92-58AEE7AEF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113" y="1801994"/>
            <a:ext cx="10813774" cy="875105"/>
          </a:xfrm>
        </p:spPr>
        <p:txBody>
          <a:bodyPr>
            <a:normAutofit/>
          </a:bodyPr>
          <a:lstStyle>
            <a:lvl1pPr marL="0" indent="0" algn="just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022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32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5800E9-9413-3CB8-EF2A-5C83229F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3CCB02-425B-969E-0682-63A9ACFCA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3247B2-1F4A-E4D7-6B6B-76E7DA3D4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A82674-8A44-4DA6-71AA-B53C20CEF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D0E296-5408-3F63-A955-C3F7B5EDD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6EA08-EC83-46F0-8B39-46768690C621}" type="slidenum">
              <a:rPr lang="es-CO" smtClean="0"/>
              <a:t>‹Nº›</a:t>
            </a:fld>
            <a:endParaRPr lang="es-CO"/>
          </a:p>
        </p:txBody>
      </p:sp>
      <p:pic>
        <p:nvPicPr>
          <p:cNvPr id="9" name="Imagen 8" descr="Imagen que contiene tabla&#10;&#10;Descripción generada automáticamente">
            <a:extLst>
              <a:ext uri="{FF2B5EF4-FFF2-40B4-BE49-F238E27FC236}">
                <a16:creationId xmlns:a16="http://schemas.microsoft.com/office/drawing/2014/main" id="{BCCBAA88-C67B-7E51-A4FF-51186AEC56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55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99F05F-D750-FC70-4545-FA16FEDE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9908DC-CFD8-0527-5CD0-F74B9DDB2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5B19DE-B5E4-7C0F-93C1-4EB57F79F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DEC4A-DA63-BD1A-89BF-9C9DBB3D3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E15C16-E0BF-962D-C346-EB814EC23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463A5-63E3-42CE-9549-48A567BB822C}" type="slidenum">
              <a:rPr lang="es-CO" smtClean="0"/>
              <a:t>‹Nº›</a:t>
            </a:fld>
            <a:endParaRPr lang="es-CO"/>
          </a:p>
        </p:txBody>
      </p:sp>
      <p:pic>
        <p:nvPicPr>
          <p:cNvPr id="9" name="Imagen 8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EACE577-D9DA-8418-1B6E-7C4CE361F8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4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AF05F-4D94-7199-22B4-7DB53B0C6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9940" y="1348353"/>
            <a:ext cx="3798075" cy="1218398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s-MX" sz="2800" b="1" dirty="0"/>
              <a:t>Reunión de seguimiento </a:t>
            </a:r>
            <a:r>
              <a:rPr lang="es-MX" sz="2800" b="1" dirty="0" smtClean="0"/>
              <a:t>09</a:t>
            </a:r>
            <a:r>
              <a:rPr lang="es-MX" sz="2800" dirty="0"/>
              <a:t/>
            </a:r>
            <a:br>
              <a:rPr lang="es-MX" sz="2800" dirty="0"/>
            </a:br>
            <a:r>
              <a:rPr lang="es-MX" sz="2000" dirty="0"/>
              <a:t>8</a:t>
            </a:r>
            <a:r>
              <a:rPr lang="es-MX" sz="2000" dirty="0" smtClean="0"/>
              <a:t>/7/2026</a:t>
            </a:r>
            <a:endParaRPr lang="es-CO" sz="28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277F1E3-2DB0-7F3B-F9D0-3C6ABF5F49F2}"/>
              </a:ext>
            </a:extLst>
          </p:cNvPr>
          <p:cNvSpPr txBox="1">
            <a:spLocks/>
          </p:cNvSpPr>
          <p:nvPr/>
        </p:nvSpPr>
        <p:spPr>
          <a:xfrm>
            <a:off x="8269939" y="2584440"/>
            <a:ext cx="3612095" cy="294408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s-MX" sz="1600" b="1" dirty="0"/>
              <a:t>61134 |  </a:t>
            </a:r>
            <a:r>
              <a:rPr lang="es-MX" sz="1600" dirty="0"/>
              <a:t>Implementación de ensayos de aptitud en la matriz aire. Caso gases contaminantes criterio</a:t>
            </a:r>
          </a:p>
          <a:p>
            <a:pPr algn="l">
              <a:lnSpc>
                <a:spcPct val="120000"/>
              </a:lnSpc>
            </a:pPr>
            <a:endParaRPr lang="es-MX" sz="1600" dirty="0"/>
          </a:p>
          <a:p>
            <a:pPr algn="l">
              <a:lnSpc>
                <a:spcPct val="120000"/>
              </a:lnSpc>
            </a:pPr>
            <a:r>
              <a:rPr lang="es-MX" sz="1600" b="1" dirty="0"/>
              <a:t>Duración: 20 meses</a:t>
            </a:r>
          </a:p>
          <a:p>
            <a:pPr algn="l">
              <a:lnSpc>
                <a:spcPct val="120000"/>
              </a:lnSpc>
            </a:pPr>
            <a:r>
              <a:rPr lang="es-MX" sz="1600" b="1" dirty="0"/>
              <a:t>Fecha inicio: </a:t>
            </a:r>
            <a:r>
              <a:rPr lang="es-MX" sz="1600" dirty="0" smtClean="0"/>
              <a:t>14/02/2025</a:t>
            </a:r>
          </a:p>
          <a:p>
            <a:pPr algn="l">
              <a:lnSpc>
                <a:spcPct val="120000"/>
              </a:lnSpc>
            </a:pPr>
            <a:r>
              <a:rPr lang="es-MX" sz="1600" b="1" dirty="0" smtClean="0"/>
              <a:t>Fecha </a:t>
            </a:r>
            <a:r>
              <a:rPr lang="es-MX" sz="1600" b="1" dirty="0"/>
              <a:t>finalización: </a:t>
            </a:r>
            <a:r>
              <a:rPr lang="es-MX" sz="1600" dirty="0"/>
              <a:t>14/10/2026</a:t>
            </a:r>
            <a:endParaRPr lang="es-CO" sz="16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01144B0-B54D-7B5D-08DA-9AFD6119E3C5}"/>
              </a:ext>
            </a:extLst>
          </p:cNvPr>
          <p:cNvSpPr txBox="1">
            <a:spLocks/>
          </p:cNvSpPr>
          <p:nvPr/>
        </p:nvSpPr>
        <p:spPr>
          <a:xfrm>
            <a:off x="8269939" y="6187821"/>
            <a:ext cx="3612094" cy="555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es-MX" sz="2000" b="1" dirty="0"/>
              <a:t>Sede Medellín – Facultad Minas– </a:t>
            </a:r>
            <a:r>
              <a:rPr lang="es-MX" sz="2000" dirty="0"/>
              <a:t>[710] </a:t>
            </a:r>
            <a:r>
              <a:rPr lang="es-MX" sz="2000" dirty="0" err="1"/>
              <a:t>Lab</a:t>
            </a:r>
            <a:r>
              <a:rPr lang="es-MX" sz="2000" dirty="0"/>
              <a:t>. Calidad del Aire - CALAIRE</a:t>
            </a:r>
            <a:endParaRPr lang="es-CO" sz="20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91BE8D-1688-FC4A-7CAF-3605957DDBCC}"/>
              </a:ext>
            </a:extLst>
          </p:cNvPr>
          <p:cNvSpPr/>
          <p:nvPr/>
        </p:nvSpPr>
        <p:spPr>
          <a:xfrm>
            <a:off x="185980" y="3055547"/>
            <a:ext cx="1611823" cy="307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A2541D7-A6F5-D391-2F09-9D889578A723}"/>
              </a:ext>
            </a:extLst>
          </p:cNvPr>
          <p:cNvSpPr txBox="1">
            <a:spLocks/>
          </p:cNvSpPr>
          <p:nvPr/>
        </p:nvSpPr>
        <p:spPr>
          <a:xfrm>
            <a:off x="8269939" y="5528522"/>
            <a:ext cx="3612094" cy="555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l">
              <a:lnSpc>
                <a:spcPct val="110000"/>
              </a:lnSpc>
            </a:pPr>
            <a:r>
              <a:rPr lang="es-MX" sz="2000" b="1" dirty="0"/>
              <a:t>Directora: </a:t>
            </a:r>
            <a:r>
              <a:rPr lang="es-MX" sz="2000" dirty="0"/>
              <a:t>Carmen Elena Zapata Sánchez</a:t>
            </a:r>
          </a:p>
        </p:txBody>
      </p:sp>
    </p:spTree>
    <p:extLst>
      <p:ext uri="{BB962C8B-B14F-4D97-AF65-F5344CB8AC3E}">
        <p14:creationId xmlns:p14="http://schemas.microsoft.com/office/powerpoint/2010/main" val="27915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E66C6-F452-065E-539E-7A944F4E7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noProof="0"/>
              <a:t>Agenda </a:t>
            </a:r>
          </a:p>
        </p:txBody>
      </p:sp>
      <p:grpSp>
        <p:nvGrpSpPr>
          <p:cNvPr id="52" name="Google Shape;2357;p35">
            <a:extLst>
              <a:ext uri="{FF2B5EF4-FFF2-40B4-BE49-F238E27FC236}">
                <a16:creationId xmlns:a16="http://schemas.microsoft.com/office/drawing/2014/main" id="{9CF6D701-DC6F-1B9B-2299-352A34BE4E28}"/>
              </a:ext>
            </a:extLst>
          </p:cNvPr>
          <p:cNvGrpSpPr/>
          <p:nvPr/>
        </p:nvGrpSpPr>
        <p:grpSpPr>
          <a:xfrm>
            <a:off x="1836441" y="1657564"/>
            <a:ext cx="8519116" cy="4175714"/>
            <a:chOff x="1395089" y="1222700"/>
            <a:chExt cx="6738884" cy="2611500"/>
          </a:xfrm>
        </p:grpSpPr>
        <p:sp>
          <p:nvSpPr>
            <p:cNvPr id="54" name="Google Shape;2359;p35">
              <a:extLst>
                <a:ext uri="{FF2B5EF4-FFF2-40B4-BE49-F238E27FC236}">
                  <a16:creationId xmlns:a16="http://schemas.microsoft.com/office/drawing/2014/main" id="{D44964B1-D941-696B-F464-F684C8A0EA1F}"/>
                </a:ext>
              </a:extLst>
            </p:cNvPr>
            <p:cNvSpPr/>
            <p:nvPr/>
          </p:nvSpPr>
          <p:spPr>
            <a:xfrm>
              <a:off x="1981951" y="3175100"/>
              <a:ext cx="6127334" cy="6591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360;p35">
              <a:extLst>
                <a:ext uri="{FF2B5EF4-FFF2-40B4-BE49-F238E27FC236}">
                  <a16:creationId xmlns:a16="http://schemas.microsoft.com/office/drawing/2014/main" id="{4253391B-0301-24F7-1063-D37FF065DDA1}"/>
                </a:ext>
              </a:extLst>
            </p:cNvPr>
            <p:cNvSpPr/>
            <p:nvPr/>
          </p:nvSpPr>
          <p:spPr>
            <a:xfrm>
              <a:off x="1981951" y="2292250"/>
              <a:ext cx="6127334" cy="6591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361;p35">
              <a:extLst>
                <a:ext uri="{FF2B5EF4-FFF2-40B4-BE49-F238E27FC236}">
                  <a16:creationId xmlns:a16="http://schemas.microsoft.com/office/drawing/2014/main" id="{16479D49-CFA6-C71E-3DBC-AF8B92FA1796}"/>
                </a:ext>
              </a:extLst>
            </p:cNvPr>
            <p:cNvSpPr/>
            <p:nvPr/>
          </p:nvSpPr>
          <p:spPr>
            <a:xfrm>
              <a:off x="1981951" y="1390450"/>
              <a:ext cx="6127334" cy="6591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362;p35">
              <a:extLst>
                <a:ext uri="{FF2B5EF4-FFF2-40B4-BE49-F238E27FC236}">
                  <a16:creationId xmlns:a16="http://schemas.microsoft.com/office/drawing/2014/main" id="{84E83C9B-5322-1D96-BDA1-BAD3FA7E8FB6}"/>
                </a:ext>
              </a:extLst>
            </p:cNvPr>
            <p:cNvSpPr/>
            <p:nvPr/>
          </p:nvSpPr>
          <p:spPr>
            <a:xfrm>
              <a:off x="1982005" y="1222700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1"/>
                  </a:moveTo>
                  <a:cubicBezTo>
                    <a:pt x="1429" y="1"/>
                    <a:pt x="0" y="1429"/>
                    <a:pt x="0" y="3209"/>
                  </a:cubicBezTo>
                  <a:lnTo>
                    <a:pt x="0" y="29575"/>
                  </a:lnTo>
                  <a:cubicBezTo>
                    <a:pt x="0" y="27795"/>
                    <a:pt x="1429" y="26342"/>
                    <a:pt x="3209" y="26342"/>
                  </a:cubicBezTo>
                  <a:lnTo>
                    <a:pt x="34537" y="26342"/>
                  </a:lnTo>
                  <a:lnTo>
                    <a:pt x="42131" y="13184"/>
                  </a:lnTo>
                  <a:lnTo>
                    <a:pt x="34537" y="1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363;p35">
              <a:extLst>
                <a:ext uri="{FF2B5EF4-FFF2-40B4-BE49-F238E27FC236}">
                  <a16:creationId xmlns:a16="http://schemas.microsoft.com/office/drawing/2014/main" id="{1C0832E4-EDDF-3CC9-6DE7-D5E677104D6D}"/>
                </a:ext>
              </a:extLst>
            </p:cNvPr>
            <p:cNvSpPr/>
            <p:nvPr/>
          </p:nvSpPr>
          <p:spPr>
            <a:xfrm>
              <a:off x="1982005" y="1383100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1"/>
                  </a:moveTo>
                  <a:lnTo>
                    <a:pt x="42131" y="6768"/>
                  </a:lnTo>
                  <a:lnTo>
                    <a:pt x="34537" y="19951"/>
                  </a:lnTo>
                  <a:lnTo>
                    <a:pt x="3209" y="19951"/>
                  </a:lnTo>
                  <a:cubicBezTo>
                    <a:pt x="1429" y="19951"/>
                    <a:pt x="0" y="21379"/>
                    <a:pt x="0" y="23159"/>
                  </a:cubicBezTo>
                  <a:cubicBezTo>
                    <a:pt x="0" y="23159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68"/>
                  </a:lnTo>
                  <a:lnTo>
                    <a:pt x="39499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364;p35">
              <a:extLst>
                <a:ext uri="{FF2B5EF4-FFF2-40B4-BE49-F238E27FC236}">
                  <a16:creationId xmlns:a16="http://schemas.microsoft.com/office/drawing/2014/main" id="{155F533C-1D37-1025-0277-1E2F815DFF8B}"/>
                </a:ext>
              </a:extLst>
            </p:cNvPr>
            <p:cNvSpPr/>
            <p:nvPr/>
          </p:nvSpPr>
          <p:spPr>
            <a:xfrm>
              <a:off x="1982005" y="2274725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0"/>
                  </a:moveTo>
                  <a:lnTo>
                    <a:pt x="42131" y="6767"/>
                  </a:lnTo>
                  <a:lnTo>
                    <a:pt x="34537" y="19925"/>
                  </a:lnTo>
                  <a:lnTo>
                    <a:pt x="3209" y="19925"/>
                  </a:lnTo>
                  <a:cubicBezTo>
                    <a:pt x="1429" y="19925"/>
                    <a:pt x="0" y="21379"/>
                    <a:pt x="0" y="23158"/>
                  </a:cubicBezTo>
                  <a:cubicBezTo>
                    <a:pt x="0" y="23158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67"/>
                  </a:lnTo>
                  <a:lnTo>
                    <a:pt x="39499" y="0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365;p35">
              <a:extLst>
                <a:ext uri="{FF2B5EF4-FFF2-40B4-BE49-F238E27FC236}">
                  <a16:creationId xmlns:a16="http://schemas.microsoft.com/office/drawing/2014/main" id="{88A95DA5-2E0A-54D2-3358-E4B8B4D134EC}"/>
                </a:ext>
              </a:extLst>
            </p:cNvPr>
            <p:cNvSpPr/>
            <p:nvPr/>
          </p:nvSpPr>
          <p:spPr>
            <a:xfrm>
              <a:off x="1982005" y="3166325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1"/>
                  </a:moveTo>
                  <a:lnTo>
                    <a:pt x="42131" y="6742"/>
                  </a:lnTo>
                  <a:lnTo>
                    <a:pt x="34537" y="19925"/>
                  </a:lnTo>
                  <a:lnTo>
                    <a:pt x="3209" y="19925"/>
                  </a:lnTo>
                  <a:cubicBezTo>
                    <a:pt x="1429" y="19925"/>
                    <a:pt x="0" y="21379"/>
                    <a:pt x="0" y="23159"/>
                  </a:cubicBezTo>
                  <a:cubicBezTo>
                    <a:pt x="0" y="23159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42"/>
                  </a:lnTo>
                  <a:lnTo>
                    <a:pt x="39499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367;p35">
              <a:extLst>
                <a:ext uri="{FF2B5EF4-FFF2-40B4-BE49-F238E27FC236}">
                  <a16:creationId xmlns:a16="http://schemas.microsoft.com/office/drawing/2014/main" id="{D6420D55-0E16-4D65-3504-B51AC89B479A}"/>
                </a:ext>
              </a:extLst>
            </p:cNvPr>
            <p:cNvSpPr/>
            <p:nvPr/>
          </p:nvSpPr>
          <p:spPr>
            <a:xfrm>
              <a:off x="2245155" y="1222700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1"/>
                  </a:moveTo>
                  <a:lnTo>
                    <a:pt x="8622" y="26342"/>
                  </a:lnTo>
                  <a:lnTo>
                    <a:pt x="20903" y="26342"/>
                  </a:lnTo>
                  <a:lnTo>
                    <a:pt x="12257" y="1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368;p35">
              <a:extLst>
                <a:ext uri="{FF2B5EF4-FFF2-40B4-BE49-F238E27FC236}">
                  <a16:creationId xmlns:a16="http://schemas.microsoft.com/office/drawing/2014/main" id="{EB9C2789-4FAC-1B7C-ADFD-DE343BB3263C}"/>
                </a:ext>
              </a:extLst>
            </p:cNvPr>
            <p:cNvSpPr/>
            <p:nvPr/>
          </p:nvSpPr>
          <p:spPr>
            <a:xfrm>
              <a:off x="2055305" y="1222700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1"/>
                  </a:moveTo>
                  <a:lnTo>
                    <a:pt x="8622" y="26342"/>
                  </a:lnTo>
                  <a:lnTo>
                    <a:pt x="13986" y="26342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369;p35">
              <a:extLst>
                <a:ext uri="{FF2B5EF4-FFF2-40B4-BE49-F238E27FC236}">
                  <a16:creationId xmlns:a16="http://schemas.microsoft.com/office/drawing/2014/main" id="{85A53C70-B067-42DF-B81B-EEF6FE588C3C}"/>
                </a:ext>
              </a:extLst>
            </p:cNvPr>
            <p:cNvSpPr/>
            <p:nvPr/>
          </p:nvSpPr>
          <p:spPr>
            <a:xfrm>
              <a:off x="1982005" y="2114325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0"/>
                  </a:moveTo>
                  <a:cubicBezTo>
                    <a:pt x="1429" y="0"/>
                    <a:pt x="0" y="1429"/>
                    <a:pt x="0" y="3208"/>
                  </a:cubicBezTo>
                  <a:lnTo>
                    <a:pt x="0" y="29574"/>
                  </a:lnTo>
                  <a:cubicBezTo>
                    <a:pt x="0" y="27795"/>
                    <a:pt x="1429" y="26341"/>
                    <a:pt x="3209" y="26341"/>
                  </a:cubicBezTo>
                  <a:lnTo>
                    <a:pt x="34537" y="26341"/>
                  </a:lnTo>
                  <a:lnTo>
                    <a:pt x="42131" y="13158"/>
                  </a:lnTo>
                  <a:lnTo>
                    <a:pt x="34537" y="0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370;p35">
              <a:extLst>
                <a:ext uri="{FF2B5EF4-FFF2-40B4-BE49-F238E27FC236}">
                  <a16:creationId xmlns:a16="http://schemas.microsoft.com/office/drawing/2014/main" id="{DB627104-C452-2A65-62D9-A7D54AB85A5B}"/>
                </a:ext>
              </a:extLst>
            </p:cNvPr>
            <p:cNvSpPr/>
            <p:nvPr/>
          </p:nvSpPr>
          <p:spPr>
            <a:xfrm>
              <a:off x="2245155" y="2114325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20903" y="26341"/>
                  </a:lnTo>
                  <a:lnTo>
                    <a:pt x="12257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371;p35">
              <a:extLst>
                <a:ext uri="{FF2B5EF4-FFF2-40B4-BE49-F238E27FC236}">
                  <a16:creationId xmlns:a16="http://schemas.microsoft.com/office/drawing/2014/main" id="{E54A8957-D9D4-CF1D-4CDF-E2D8039627BA}"/>
                </a:ext>
              </a:extLst>
            </p:cNvPr>
            <p:cNvSpPr/>
            <p:nvPr/>
          </p:nvSpPr>
          <p:spPr>
            <a:xfrm>
              <a:off x="2055305" y="2114325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13986" y="26341"/>
                  </a:lnTo>
                  <a:lnTo>
                    <a:pt x="5339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372;p35">
              <a:extLst>
                <a:ext uri="{FF2B5EF4-FFF2-40B4-BE49-F238E27FC236}">
                  <a16:creationId xmlns:a16="http://schemas.microsoft.com/office/drawing/2014/main" id="{A32D7B6E-7573-3933-F687-68E8AEDDF77C}"/>
                </a:ext>
              </a:extLst>
            </p:cNvPr>
            <p:cNvSpPr/>
            <p:nvPr/>
          </p:nvSpPr>
          <p:spPr>
            <a:xfrm>
              <a:off x="1982005" y="3005925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0"/>
                  </a:moveTo>
                  <a:cubicBezTo>
                    <a:pt x="1429" y="0"/>
                    <a:pt x="0" y="1429"/>
                    <a:pt x="0" y="3209"/>
                  </a:cubicBezTo>
                  <a:lnTo>
                    <a:pt x="0" y="29575"/>
                  </a:lnTo>
                  <a:cubicBezTo>
                    <a:pt x="0" y="27795"/>
                    <a:pt x="1429" y="26341"/>
                    <a:pt x="3209" y="26341"/>
                  </a:cubicBezTo>
                  <a:lnTo>
                    <a:pt x="34537" y="26341"/>
                  </a:lnTo>
                  <a:lnTo>
                    <a:pt x="42131" y="13158"/>
                  </a:lnTo>
                  <a:lnTo>
                    <a:pt x="34537" y="0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373;p35">
              <a:extLst>
                <a:ext uri="{FF2B5EF4-FFF2-40B4-BE49-F238E27FC236}">
                  <a16:creationId xmlns:a16="http://schemas.microsoft.com/office/drawing/2014/main" id="{E66A2427-18AB-DA72-58E9-8262D65A7F1A}"/>
                </a:ext>
              </a:extLst>
            </p:cNvPr>
            <p:cNvSpPr/>
            <p:nvPr/>
          </p:nvSpPr>
          <p:spPr>
            <a:xfrm>
              <a:off x="2245155" y="3005925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20903" y="26341"/>
                  </a:lnTo>
                  <a:lnTo>
                    <a:pt x="12257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374;p35">
              <a:extLst>
                <a:ext uri="{FF2B5EF4-FFF2-40B4-BE49-F238E27FC236}">
                  <a16:creationId xmlns:a16="http://schemas.microsoft.com/office/drawing/2014/main" id="{ECAD691C-5334-0C14-72D2-E1F7E01B4310}"/>
                </a:ext>
              </a:extLst>
            </p:cNvPr>
            <p:cNvSpPr/>
            <p:nvPr/>
          </p:nvSpPr>
          <p:spPr>
            <a:xfrm>
              <a:off x="2055305" y="3005925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13986" y="26341"/>
                  </a:lnTo>
                  <a:lnTo>
                    <a:pt x="5339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378;p35">
              <a:extLst>
                <a:ext uri="{FF2B5EF4-FFF2-40B4-BE49-F238E27FC236}">
                  <a16:creationId xmlns:a16="http://schemas.microsoft.com/office/drawing/2014/main" id="{7B1DB460-114B-55D2-DBCF-CF64885FB97B}"/>
                </a:ext>
              </a:extLst>
            </p:cNvPr>
            <p:cNvSpPr/>
            <p:nvPr/>
          </p:nvSpPr>
          <p:spPr>
            <a:xfrm>
              <a:off x="2245156" y="1324200"/>
              <a:ext cx="669201" cy="453050"/>
            </a:xfrm>
            <a:custGeom>
              <a:avLst/>
              <a:gdLst/>
              <a:ahLst/>
              <a:cxnLst/>
              <a:rect l="l" t="t" r="r" b="b"/>
              <a:pathLst>
                <a:path w="20903" h="18122" extrusionOk="0">
                  <a:moveTo>
                    <a:pt x="5239" y="1"/>
                  </a:moveTo>
                  <a:lnTo>
                    <a:pt x="1" y="9049"/>
                  </a:lnTo>
                  <a:lnTo>
                    <a:pt x="5239" y="18121"/>
                  </a:lnTo>
                  <a:lnTo>
                    <a:pt x="15690" y="18121"/>
                  </a:lnTo>
                  <a:lnTo>
                    <a:pt x="20903" y="9049"/>
                  </a:lnTo>
                  <a:lnTo>
                    <a:pt x="156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4" name="Google Shape;2379;p35">
              <a:extLst>
                <a:ext uri="{FF2B5EF4-FFF2-40B4-BE49-F238E27FC236}">
                  <a16:creationId xmlns:a16="http://schemas.microsoft.com/office/drawing/2014/main" id="{429B0433-F74B-9BED-495D-4DA08560B5CC}"/>
                </a:ext>
              </a:extLst>
            </p:cNvPr>
            <p:cNvSpPr/>
            <p:nvPr/>
          </p:nvSpPr>
          <p:spPr>
            <a:xfrm>
              <a:off x="2213831" y="1324200"/>
              <a:ext cx="199375" cy="453050"/>
            </a:xfrm>
            <a:custGeom>
              <a:avLst/>
              <a:gdLst/>
              <a:ahLst/>
              <a:cxnLst/>
              <a:rect l="l" t="t" r="r" b="b"/>
              <a:pathLst>
                <a:path w="6693" h="18122" extrusionOk="0">
                  <a:moveTo>
                    <a:pt x="5239" y="1"/>
                  </a:moveTo>
                  <a:lnTo>
                    <a:pt x="1" y="9049"/>
                  </a:lnTo>
                  <a:lnTo>
                    <a:pt x="5239" y="18121"/>
                  </a:lnTo>
                  <a:lnTo>
                    <a:pt x="6692" y="18121"/>
                  </a:lnTo>
                  <a:lnTo>
                    <a:pt x="1454" y="9049"/>
                  </a:lnTo>
                  <a:lnTo>
                    <a:pt x="6692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380;p35">
              <a:extLst>
                <a:ext uri="{FF2B5EF4-FFF2-40B4-BE49-F238E27FC236}">
                  <a16:creationId xmlns:a16="http://schemas.microsoft.com/office/drawing/2014/main" id="{2D1EBA5A-258D-B034-34A6-36D42747DB86}"/>
                </a:ext>
              </a:extLst>
            </p:cNvPr>
            <p:cNvSpPr/>
            <p:nvPr/>
          </p:nvSpPr>
          <p:spPr>
            <a:xfrm>
              <a:off x="2245156" y="2215825"/>
              <a:ext cx="669201" cy="453025"/>
            </a:xfrm>
            <a:custGeom>
              <a:avLst/>
              <a:gdLst/>
              <a:ahLst/>
              <a:cxnLst/>
              <a:rect l="l" t="t" r="r" b="b"/>
              <a:pathLst>
                <a:path w="20903" h="18121" extrusionOk="0">
                  <a:moveTo>
                    <a:pt x="5239" y="0"/>
                  </a:moveTo>
                  <a:lnTo>
                    <a:pt x="1" y="9048"/>
                  </a:lnTo>
                  <a:lnTo>
                    <a:pt x="5239" y="18121"/>
                  </a:lnTo>
                  <a:lnTo>
                    <a:pt x="15690" y="18121"/>
                  </a:lnTo>
                  <a:lnTo>
                    <a:pt x="20903" y="9048"/>
                  </a:lnTo>
                  <a:lnTo>
                    <a:pt x="156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6" name="Google Shape;2381;p35">
              <a:extLst>
                <a:ext uri="{FF2B5EF4-FFF2-40B4-BE49-F238E27FC236}">
                  <a16:creationId xmlns:a16="http://schemas.microsoft.com/office/drawing/2014/main" id="{813D94DD-4410-5FE4-B8EA-EF0A7C723A27}"/>
                </a:ext>
              </a:extLst>
            </p:cNvPr>
            <p:cNvSpPr/>
            <p:nvPr/>
          </p:nvSpPr>
          <p:spPr>
            <a:xfrm>
              <a:off x="2245156" y="3107425"/>
              <a:ext cx="669201" cy="452400"/>
            </a:xfrm>
            <a:custGeom>
              <a:avLst/>
              <a:gdLst/>
              <a:ahLst/>
              <a:cxnLst/>
              <a:rect l="l" t="t" r="r" b="b"/>
              <a:pathLst>
                <a:path w="20903" h="18096" extrusionOk="0">
                  <a:moveTo>
                    <a:pt x="5239" y="1"/>
                  </a:moveTo>
                  <a:lnTo>
                    <a:pt x="1" y="9048"/>
                  </a:lnTo>
                  <a:lnTo>
                    <a:pt x="5239" y="18096"/>
                  </a:lnTo>
                  <a:lnTo>
                    <a:pt x="15690" y="18096"/>
                  </a:lnTo>
                  <a:lnTo>
                    <a:pt x="20903" y="9048"/>
                  </a:lnTo>
                  <a:lnTo>
                    <a:pt x="156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</a:t>
              </a:r>
              <a:endParaRPr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8" name="Google Shape;2383;p35">
              <a:extLst>
                <a:ext uri="{FF2B5EF4-FFF2-40B4-BE49-F238E27FC236}">
                  <a16:creationId xmlns:a16="http://schemas.microsoft.com/office/drawing/2014/main" id="{D405D2C4-00E7-84D2-0D03-5DFB42D7C2F6}"/>
                </a:ext>
              </a:extLst>
            </p:cNvPr>
            <p:cNvSpPr/>
            <p:nvPr/>
          </p:nvSpPr>
          <p:spPr>
            <a:xfrm>
              <a:off x="2182835" y="2215825"/>
              <a:ext cx="219143" cy="453025"/>
            </a:xfrm>
            <a:custGeom>
              <a:avLst/>
              <a:gdLst/>
              <a:ahLst/>
              <a:cxnLst/>
              <a:rect l="l" t="t" r="r" b="b"/>
              <a:pathLst>
                <a:path w="6693" h="18121" extrusionOk="0">
                  <a:moveTo>
                    <a:pt x="5239" y="0"/>
                  </a:moveTo>
                  <a:lnTo>
                    <a:pt x="1" y="9048"/>
                  </a:lnTo>
                  <a:lnTo>
                    <a:pt x="5239" y="18121"/>
                  </a:lnTo>
                  <a:lnTo>
                    <a:pt x="6692" y="18121"/>
                  </a:lnTo>
                  <a:lnTo>
                    <a:pt x="1454" y="9048"/>
                  </a:lnTo>
                  <a:lnTo>
                    <a:pt x="6692" y="0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2384;p35">
              <a:extLst>
                <a:ext uri="{FF2B5EF4-FFF2-40B4-BE49-F238E27FC236}">
                  <a16:creationId xmlns:a16="http://schemas.microsoft.com/office/drawing/2014/main" id="{4077328F-0631-8E23-EC81-9851E76CF985}"/>
                </a:ext>
              </a:extLst>
            </p:cNvPr>
            <p:cNvSpPr/>
            <p:nvPr/>
          </p:nvSpPr>
          <p:spPr>
            <a:xfrm>
              <a:off x="2213830" y="3096401"/>
              <a:ext cx="188152" cy="465324"/>
            </a:xfrm>
            <a:custGeom>
              <a:avLst/>
              <a:gdLst/>
              <a:ahLst/>
              <a:cxnLst/>
              <a:rect l="l" t="t" r="r" b="b"/>
              <a:pathLst>
                <a:path w="6693" h="18122" extrusionOk="0">
                  <a:moveTo>
                    <a:pt x="5239" y="1"/>
                  </a:moveTo>
                  <a:lnTo>
                    <a:pt x="1" y="9048"/>
                  </a:lnTo>
                  <a:lnTo>
                    <a:pt x="5239" y="18121"/>
                  </a:lnTo>
                  <a:lnTo>
                    <a:pt x="6692" y="18121"/>
                  </a:lnTo>
                  <a:lnTo>
                    <a:pt x="1454" y="9048"/>
                  </a:lnTo>
                  <a:lnTo>
                    <a:pt x="6692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386;p35">
              <a:extLst>
                <a:ext uri="{FF2B5EF4-FFF2-40B4-BE49-F238E27FC236}">
                  <a16:creationId xmlns:a16="http://schemas.microsoft.com/office/drawing/2014/main" id="{4463B103-4BCA-3292-24D7-8F47B6BA3B1D}"/>
                </a:ext>
              </a:extLst>
            </p:cNvPr>
            <p:cNvSpPr/>
            <p:nvPr/>
          </p:nvSpPr>
          <p:spPr>
            <a:xfrm>
              <a:off x="1580380" y="1550400"/>
              <a:ext cx="25" cy="1794363"/>
            </a:xfrm>
            <a:custGeom>
              <a:avLst/>
              <a:gdLst/>
              <a:ahLst/>
              <a:cxnLst/>
              <a:rect l="l" t="t" r="r" b="b"/>
              <a:pathLst>
                <a:path w="1" h="106994" fill="none" extrusionOk="0">
                  <a:moveTo>
                    <a:pt x="0" y="1"/>
                  </a:moveTo>
                  <a:lnTo>
                    <a:pt x="0" y="106994"/>
                  </a:lnTo>
                </a:path>
              </a:pathLst>
            </a:custGeom>
            <a:noFill/>
            <a:ln w="20675" cap="rnd" cmpd="sng">
              <a:solidFill>
                <a:srgbClr val="EBEB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387;p35">
              <a:extLst>
                <a:ext uri="{FF2B5EF4-FFF2-40B4-BE49-F238E27FC236}">
                  <a16:creationId xmlns:a16="http://schemas.microsoft.com/office/drawing/2014/main" id="{F64E47BE-4540-8C2D-BB82-9EB7CCD1DF26}"/>
                </a:ext>
              </a:extLst>
            </p:cNvPr>
            <p:cNvSpPr/>
            <p:nvPr/>
          </p:nvSpPr>
          <p:spPr>
            <a:xfrm>
              <a:off x="1395090" y="1400650"/>
              <a:ext cx="386199" cy="300150"/>
            </a:xfrm>
            <a:custGeom>
              <a:avLst/>
              <a:gdLst/>
              <a:ahLst/>
              <a:cxnLst/>
              <a:rect l="l" t="t" r="r" b="b"/>
              <a:pathLst>
                <a:path w="11981" h="12006" extrusionOk="0">
                  <a:moveTo>
                    <a:pt x="5990" y="1"/>
                  </a:moveTo>
                  <a:cubicBezTo>
                    <a:pt x="2682" y="1"/>
                    <a:pt x="0" y="2682"/>
                    <a:pt x="0" y="5991"/>
                  </a:cubicBezTo>
                  <a:cubicBezTo>
                    <a:pt x="0" y="9299"/>
                    <a:pt x="2682" y="12006"/>
                    <a:pt x="5990" y="12006"/>
                  </a:cubicBezTo>
                  <a:cubicBezTo>
                    <a:pt x="9299" y="12006"/>
                    <a:pt x="11980" y="9299"/>
                    <a:pt x="11980" y="5991"/>
                  </a:cubicBezTo>
                  <a:cubicBezTo>
                    <a:pt x="11980" y="2682"/>
                    <a:pt x="9299" y="1"/>
                    <a:pt x="5990" y="1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388;p35">
              <a:extLst>
                <a:ext uri="{FF2B5EF4-FFF2-40B4-BE49-F238E27FC236}">
                  <a16:creationId xmlns:a16="http://schemas.microsoft.com/office/drawing/2014/main" id="{43E03D15-C64E-DEFE-C483-47877F7371AB}"/>
                </a:ext>
              </a:extLst>
            </p:cNvPr>
            <p:cNvSpPr/>
            <p:nvPr/>
          </p:nvSpPr>
          <p:spPr>
            <a:xfrm>
              <a:off x="1395089" y="2292250"/>
              <a:ext cx="386199" cy="299525"/>
            </a:xfrm>
            <a:custGeom>
              <a:avLst/>
              <a:gdLst/>
              <a:ahLst/>
              <a:cxnLst/>
              <a:rect l="l" t="t" r="r" b="b"/>
              <a:pathLst>
                <a:path w="11981" h="11981" extrusionOk="0">
                  <a:moveTo>
                    <a:pt x="5990" y="1"/>
                  </a:moveTo>
                  <a:cubicBezTo>
                    <a:pt x="2682" y="1"/>
                    <a:pt x="0" y="2683"/>
                    <a:pt x="0" y="5991"/>
                  </a:cubicBezTo>
                  <a:cubicBezTo>
                    <a:pt x="0" y="9299"/>
                    <a:pt x="2682" y="11981"/>
                    <a:pt x="5990" y="11981"/>
                  </a:cubicBezTo>
                  <a:cubicBezTo>
                    <a:pt x="9299" y="11981"/>
                    <a:pt x="11980" y="9299"/>
                    <a:pt x="11980" y="5991"/>
                  </a:cubicBezTo>
                  <a:cubicBezTo>
                    <a:pt x="11980" y="2683"/>
                    <a:pt x="9299" y="1"/>
                    <a:pt x="5990" y="1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389;p35">
              <a:extLst>
                <a:ext uri="{FF2B5EF4-FFF2-40B4-BE49-F238E27FC236}">
                  <a16:creationId xmlns:a16="http://schemas.microsoft.com/office/drawing/2014/main" id="{D4F97E02-A43B-BFC1-BA17-24CC10B10727}"/>
                </a:ext>
              </a:extLst>
            </p:cNvPr>
            <p:cNvSpPr/>
            <p:nvPr/>
          </p:nvSpPr>
          <p:spPr>
            <a:xfrm>
              <a:off x="1395089" y="3183875"/>
              <a:ext cx="386199" cy="299525"/>
            </a:xfrm>
            <a:custGeom>
              <a:avLst/>
              <a:gdLst/>
              <a:ahLst/>
              <a:cxnLst/>
              <a:rect l="l" t="t" r="r" b="b"/>
              <a:pathLst>
                <a:path w="11981" h="11981" extrusionOk="0">
                  <a:moveTo>
                    <a:pt x="5990" y="0"/>
                  </a:moveTo>
                  <a:cubicBezTo>
                    <a:pt x="2682" y="0"/>
                    <a:pt x="0" y="2682"/>
                    <a:pt x="0" y="5990"/>
                  </a:cubicBezTo>
                  <a:cubicBezTo>
                    <a:pt x="0" y="9299"/>
                    <a:pt x="2682" y="11980"/>
                    <a:pt x="5990" y="11980"/>
                  </a:cubicBezTo>
                  <a:cubicBezTo>
                    <a:pt x="9299" y="11980"/>
                    <a:pt x="11980" y="9299"/>
                    <a:pt x="11980" y="5990"/>
                  </a:cubicBezTo>
                  <a:cubicBezTo>
                    <a:pt x="11980" y="2682"/>
                    <a:pt x="9299" y="0"/>
                    <a:pt x="5990" y="0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" name="Google Shape;2391;p35">
              <a:extLst>
                <a:ext uri="{FF2B5EF4-FFF2-40B4-BE49-F238E27FC236}">
                  <a16:creationId xmlns:a16="http://schemas.microsoft.com/office/drawing/2014/main" id="{A4535E7F-9206-77C2-6636-464F49C23079}"/>
                </a:ext>
              </a:extLst>
            </p:cNvPr>
            <p:cNvGrpSpPr/>
            <p:nvPr/>
          </p:nvGrpSpPr>
          <p:grpSpPr>
            <a:xfrm>
              <a:off x="3287150" y="1462725"/>
              <a:ext cx="4846823" cy="475766"/>
              <a:chOff x="3287150" y="1449013"/>
              <a:chExt cx="4846823" cy="475766"/>
            </a:xfrm>
          </p:grpSpPr>
          <p:sp>
            <p:nvSpPr>
              <p:cNvPr id="96" name="Google Shape;2392;p35">
                <a:extLst>
                  <a:ext uri="{FF2B5EF4-FFF2-40B4-BE49-F238E27FC236}">
                    <a16:creationId xmlns:a16="http://schemas.microsoft.com/office/drawing/2014/main" id="{29DDD64B-8FD9-C577-BA3E-CBFCC322EC59}"/>
                  </a:ext>
                </a:extLst>
              </p:cNvPr>
              <p:cNvSpPr txBox="1"/>
              <p:nvPr/>
            </p:nvSpPr>
            <p:spPr>
              <a:xfrm>
                <a:off x="3287151" y="1661979"/>
                <a:ext cx="4846822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600" noProof="0" dirty="0">
                    <a:solidFill>
                      <a:schemeClr val="dk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Roboto"/>
                    <a:sym typeface="Roboto"/>
                  </a:rPr>
                  <a:t>Objetivos, resultados, productos y actividades</a:t>
                </a:r>
              </a:p>
            </p:txBody>
          </p:sp>
          <p:sp>
            <p:nvSpPr>
              <p:cNvPr id="97" name="Google Shape;2393;p35">
                <a:extLst>
                  <a:ext uri="{FF2B5EF4-FFF2-40B4-BE49-F238E27FC236}">
                    <a16:creationId xmlns:a16="http://schemas.microsoft.com/office/drawing/2014/main" id="{CFB4EBF7-9B75-62BA-A900-0640B4E4516C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4636317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2000" b="1" noProof="0" dirty="0">
                    <a:solidFill>
                      <a:srgbClr val="0070C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Fira Sans Extra Condensed Medium"/>
                    <a:sym typeface="Fira Sans Extra Condensed Medium"/>
                  </a:rPr>
                  <a:t>Avance técnico</a:t>
                </a:r>
              </a:p>
            </p:txBody>
          </p:sp>
        </p:grpSp>
        <p:grpSp>
          <p:nvGrpSpPr>
            <p:cNvPr id="87" name="Google Shape;2394;p35">
              <a:extLst>
                <a:ext uri="{FF2B5EF4-FFF2-40B4-BE49-F238E27FC236}">
                  <a16:creationId xmlns:a16="http://schemas.microsoft.com/office/drawing/2014/main" id="{4404E131-7980-403E-AF0D-4A6489122B24}"/>
                </a:ext>
              </a:extLst>
            </p:cNvPr>
            <p:cNvGrpSpPr/>
            <p:nvPr/>
          </p:nvGrpSpPr>
          <p:grpSpPr>
            <a:xfrm>
              <a:off x="3287150" y="2355050"/>
              <a:ext cx="4846823" cy="475766"/>
              <a:chOff x="3287150" y="1449013"/>
              <a:chExt cx="4846823" cy="475766"/>
            </a:xfrm>
          </p:grpSpPr>
          <p:sp>
            <p:nvSpPr>
              <p:cNvPr id="94" name="Google Shape;2395;p35">
                <a:extLst>
                  <a:ext uri="{FF2B5EF4-FFF2-40B4-BE49-F238E27FC236}">
                    <a16:creationId xmlns:a16="http://schemas.microsoft.com/office/drawing/2014/main" id="{6922E3C2-D383-0F75-C780-1E5D8F5B7D8A}"/>
                  </a:ext>
                </a:extLst>
              </p:cNvPr>
              <p:cNvSpPr txBox="1"/>
              <p:nvPr/>
            </p:nvSpPr>
            <p:spPr>
              <a:xfrm>
                <a:off x="3287151" y="1661979"/>
                <a:ext cx="4846822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600" noProof="0" dirty="0">
                    <a:solidFill>
                      <a:schemeClr val="dk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Roboto"/>
                    <a:sym typeface="Roboto"/>
                  </a:rPr>
                  <a:t>Equipos adquiridos, recursos INM-UNAL y contrapartida</a:t>
                </a:r>
              </a:p>
            </p:txBody>
          </p:sp>
          <p:sp>
            <p:nvSpPr>
              <p:cNvPr id="95" name="Google Shape;2396;p35">
                <a:extLst>
                  <a:ext uri="{FF2B5EF4-FFF2-40B4-BE49-F238E27FC236}">
                    <a16:creationId xmlns:a16="http://schemas.microsoft.com/office/drawing/2014/main" id="{180BB556-4E75-60B5-B71C-D6C2D44FF59C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4636317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2000" b="1" noProof="0" dirty="0">
                    <a:solidFill>
                      <a:srgbClr val="0070C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Fira Sans Extra Condensed Medium"/>
                    <a:sym typeface="Fira Sans Extra Condensed Medium"/>
                  </a:rPr>
                  <a:t>Avance financiero</a:t>
                </a:r>
              </a:p>
            </p:txBody>
          </p:sp>
        </p:grpSp>
        <p:grpSp>
          <p:nvGrpSpPr>
            <p:cNvPr id="88" name="Google Shape;2397;p35">
              <a:extLst>
                <a:ext uri="{FF2B5EF4-FFF2-40B4-BE49-F238E27FC236}">
                  <a16:creationId xmlns:a16="http://schemas.microsoft.com/office/drawing/2014/main" id="{73217157-62F6-A447-278C-C234EE243ED9}"/>
                </a:ext>
              </a:extLst>
            </p:cNvPr>
            <p:cNvGrpSpPr/>
            <p:nvPr/>
          </p:nvGrpSpPr>
          <p:grpSpPr>
            <a:xfrm>
              <a:off x="3287150" y="3256138"/>
              <a:ext cx="4846823" cy="475766"/>
              <a:chOff x="3287150" y="1449013"/>
              <a:chExt cx="4846823" cy="475766"/>
            </a:xfrm>
          </p:grpSpPr>
          <p:sp>
            <p:nvSpPr>
              <p:cNvPr id="92" name="Google Shape;2398;p35">
                <a:extLst>
                  <a:ext uri="{FF2B5EF4-FFF2-40B4-BE49-F238E27FC236}">
                    <a16:creationId xmlns:a16="http://schemas.microsoft.com/office/drawing/2014/main" id="{1C9B5C25-D79C-848F-146C-0C18CD0A455E}"/>
                  </a:ext>
                </a:extLst>
              </p:cNvPr>
              <p:cNvSpPr txBox="1"/>
              <p:nvPr/>
            </p:nvSpPr>
            <p:spPr>
              <a:xfrm>
                <a:off x="3287151" y="1661979"/>
                <a:ext cx="4846822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600" noProof="0" dirty="0">
                    <a:solidFill>
                      <a:schemeClr val="dk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Roboto"/>
                    <a:sym typeface="Roboto"/>
                  </a:rPr>
                  <a:t>Temas varios</a:t>
                </a:r>
              </a:p>
            </p:txBody>
          </p:sp>
          <p:sp>
            <p:nvSpPr>
              <p:cNvPr id="93" name="Google Shape;2399;p35">
                <a:extLst>
                  <a:ext uri="{FF2B5EF4-FFF2-40B4-BE49-F238E27FC236}">
                    <a16:creationId xmlns:a16="http://schemas.microsoft.com/office/drawing/2014/main" id="{63A1C8C2-5097-3298-9973-743CCF9707BA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4636317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2000" b="1" noProof="0" dirty="0">
                    <a:solidFill>
                      <a:srgbClr val="0070C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Fira Sans Extra Condensed Medium"/>
                    <a:sym typeface="Fira Sans Extra Condensed Medium"/>
                  </a:rPr>
                  <a:t>Otros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118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0789E-4E63-F6F8-410A-91BF95BD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F8C78E9-CB13-6791-0630-8D89499F2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Objetivos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0B69E13-66C5-3CC6-BEF3-1C79535AA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97509"/>
              </p:ext>
            </p:extLst>
          </p:nvPr>
        </p:nvGraphicFramePr>
        <p:xfrm>
          <a:off x="586351" y="1515455"/>
          <a:ext cx="11019296" cy="5003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822557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4660370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536369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Objetivo específico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Medio de verificación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- 1. Identificar los procedimientos para la elaboración de comparaciones </a:t>
                      </a:r>
                      <a:r>
                        <a:rPr lang="es-MX" sz="1400" dirty="0" err="1"/>
                        <a:t>interlaboratorios</a:t>
                      </a:r>
                      <a:r>
                        <a:rPr lang="es-MX" sz="1400" dirty="0"/>
                        <a:t> y/o ensayos de aptitud en el mundo mediante un estudio bibliográfico.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dirty="0"/>
                        <a:t>Informe del estado del arte de los ensayos de aptitud y/o </a:t>
                      </a:r>
                      <a:r>
                        <a:rPr lang="es-MX" sz="1400" dirty="0" err="1"/>
                        <a:t>intercomparaciones</a:t>
                      </a:r>
                      <a:r>
                        <a:rPr lang="es-MX" sz="1400" dirty="0"/>
                        <a:t> para la matriz aire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- 2. Elaborar protocolos para las comparaciones </a:t>
                      </a:r>
                      <a:r>
                        <a:rPr lang="es-MX" sz="1400" dirty="0" err="1"/>
                        <a:t>interlaboratorios</a:t>
                      </a:r>
                      <a:r>
                        <a:rPr lang="es-MX" sz="1400" dirty="0"/>
                        <a:t> y/o ensayos de aptitud para cada uno de los gases contaminantes definidos en el alcance.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dirty="0"/>
                        <a:t>El procedimiento de ensayo de aptitud para cada uno de los 4 gases seleccionados: ozono, Monóxido de Carbono, Dióxido de Azufre y Óxidos de nitrógeno.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- 3. Definir la metodología estadística a ser usada como medida de comparación y desarrollar un aplicativo de análisis de datos en software libre.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dirty="0"/>
                        <a:t>Documento sobre las metodologías estadísticas de análisis de datos y los criterios de selección de la mas adecuada  para los ensayos de aptitud y/o </a:t>
                      </a:r>
                      <a:r>
                        <a:rPr lang="es-MX" sz="1400" dirty="0" err="1"/>
                        <a:t>intercomparaciones</a:t>
                      </a:r>
                      <a:r>
                        <a:rPr lang="es-MX" sz="1400" dirty="0"/>
                        <a:t>. Aplicativo estadístico para análisis de los datos.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9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- 4. Desarrollar una prueba piloto interna para evaluar y ajustar los protocolos. y el aplicativo estadístico si se requiere.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dirty="0"/>
                        <a:t>Resultados de la prueba piloto: protocolos ajustado y los datos de la prueba piloto a ser analizados por la metodología estadística seleccionada. Aplicativo estadístico definitivo.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86.7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29250"/>
                  </a:ext>
                </a:extLst>
              </a:tr>
            </a:tbl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3FE1F046-BEBC-FB6E-CD0D-3A5FDAE27609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A9AC4654-9585-18B1-4690-5B6872934F64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8C4555EC-CE68-4EEF-F7A5-F286CCD19390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EDBD136F-92DD-F616-C304-B2093114EF53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66190DC8-65D7-14F4-0199-35E3480594AA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BC494787-0F50-3622-0A44-3D2BBB28FF59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BC2BA4-81C0-F544-BD72-C8CB9DA7C802}" type="slidenum">
              <a:rPr lang="es-ES" smtClean="0">
                <a:solidFill>
                  <a:srgbClr val="29272D">
                    <a:tint val="75000"/>
                  </a:srgbClr>
                </a:solidFill>
                <a:latin typeface="Ancizar Sans Light"/>
              </a:rPr>
              <a:pPr/>
              <a:t>3</a:t>
            </a:fld>
            <a:r>
              <a:rPr lang="es-ES">
                <a:solidFill>
                  <a:srgbClr val="29272D">
                    <a:tint val="75000"/>
                  </a:srgbClr>
                </a:solidFill>
                <a:latin typeface="Ancizar Sans Light"/>
              </a:rPr>
              <a:t> </a:t>
            </a:r>
            <a:endParaRPr lang="es-ES" dirty="0">
              <a:solidFill>
                <a:srgbClr val="29272D">
                  <a:tint val="75000"/>
                </a:srgbClr>
              </a:solidFill>
              <a:latin typeface="Ancizar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5592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9095-51DF-C9D4-C1FC-4368A9E3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9AAF2A0-77DE-3CB2-C224-F325FD5D4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Objetivos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8467311-49A0-40A8-8356-CCD6CF43F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81445"/>
              </p:ext>
            </p:extLst>
          </p:nvPr>
        </p:nvGraphicFramePr>
        <p:xfrm>
          <a:off x="586351" y="1515455"/>
          <a:ext cx="11019296" cy="24739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822557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4660370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536369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Objetivo específico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Medio de verificación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- 5. Integrar los protocolos de las comparaciones </a:t>
                      </a:r>
                      <a:r>
                        <a:rPr lang="es-MX" sz="1400" dirty="0" err="1"/>
                        <a:t>interlaboratorios</a:t>
                      </a:r>
                      <a:r>
                        <a:rPr lang="es-MX" sz="1400" dirty="0"/>
                        <a:t> y/o ensayos de aptitud al sistema de gestión del laboratorio.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dirty="0"/>
                        <a:t>Informe de la actualización del Sistema de Gestión del Laboratorio que cumpla los requisitos de las normas ISO 17025 y ISO 17043.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50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- 6. Desarrollar el costeo del servicio, la política de precios y las condiciones de servicio de comparaciones </a:t>
                      </a:r>
                      <a:r>
                        <a:rPr lang="es-MX" sz="1400" dirty="0" err="1"/>
                        <a:t>interlaboratorio</a:t>
                      </a:r>
                      <a:r>
                        <a:rPr lang="es-MX" sz="1400" dirty="0"/>
                        <a:t>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dirty="0"/>
                        <a:t>Matriz de costos del servicio y portafolio  de servicios del Laboratorio CALAIRE incluyendo el servicio de ensayos de aptitud y /o </a:t>
                      </a:r>
                      <a:r>
                        <a:rPr lang="es-MX" sz="1400" dirty="0" err="1"/>
                        <a:t>intercomparaciones</a:t>
                      </a:r>
                      <a:r>
                        <a:rPr lang="es-MX" sz="1400" dirty="0"/>
                        <a:t>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</a:tbl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DEE1E347-FD82-2851-A1F2-2AB01D6089AB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BD9A5D8F-9627-BAB4-01AC-6F32B4C08A59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48580658-B944-2C24-ECDD-939E5A99894B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ED2A7DE7-C68B-184D-4937-9B758FDCB001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BFDE413F-CD09-51D7-586F-19BD547E8B6E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2E294A0B-9EBE-200D-98B3-DB4955113466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08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9DF4C-A540-02A2-1475-4EAF9F52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CB6A462-8C9F-C414-560B-1EDB2722D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Resultados esperados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29CD0EE-1470-4D16-C2D4-D25DDE271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13032"/>
              </p:ext>
            </p:extLst>
          </p:nvPr>
        </p:nvGraphicFramePr>
        <p:xfrm>
          <a:off x="190611" y="1654937"/>
          <a:ext cx="11774966" cy="4881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689563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5805243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Medio de verificación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- 1. Análisis bibliográfico o estado del arte de los ensayos de aptitud o </a:t>
                      </a:r>
                      <a:r>
                        <a:rPr lang="es-MX" sz="1400" dirty="0" err="1"/>
                        <a:t>intercomparaciones</a:t>
                      </a:r>
                      <a:r>
                        <a:rPr lang="es-MX" sz="14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1. Informe de estado del arte de las comparaciones </a:t>
                      </a:r>
                      <a:r>
                        <a:rPr lang="es-MX" sz="1400" b="0" dirty="0" err="1"/>
                        <a:t>interlaboratorios</a:t>
                      </a:r>
                      <a:r>
                        <a:rPr lang="es-MX" sz="1400" b="0" dirty="0"/>
                        <a:t> y/o ensayos de aptitud</a:t>
                      </a:r>
                      <a:r>
                        <a:rPr lang="es-MX" sz="1400" b="0" dirty="0" smtClean="0"/>
                        <a:t>.</a:t>
                      </a:r>
                      <a:r>
                        <a:rPr lang="es-MX" sz="1400" b="0" baseline="0" dirty="0" smtClean="0"/>
                        <a:t> </a:t>
                      </a:r>
                      <a:r>
                        <a:rPr lang="es-MX" sz="1400" b="1" dirty="0" smtClean="0"/>
                        <a:t>(30 de junio 2025)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- 2.	Protocolos para los ensayos de aptitud y/o comparación </a:t>
                      </a:r>
                      <a:r>
                        <a:rPr lang="es-MX" sz="1400" dirty="0" err="1"/>
                        <a:t>interlaboratorios</a:t>
                      </a:r>
                      <a:r>
                        <a:rPr lang="es-MX" sz="1400" dirty="0"/>
                        <a:t> de los gases contaminantes criterio: Monóxido de Carbono, Ozono troposférico, Dióxido de Nitrógeno y Dióxido de azufre.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2. Un protocolo para las </a:t>
                      </a:r>
                      <a:r>
                        <a:rPr lang="es-MX" sz="1400" b="0" dirty="0" err="1"/>
                        <a:t>intercomparaciones</a:t>
                      </a:r>
                      <a:r>
                        <a:rPr lang="es-MX" sz="1400" b="0" dirty="0"/>
                        <a:t> entre laboratorios y/o ensayos de aptitud y cuatro procedimientos, uno para cada gas contaminante. </a:t>
                      </a:r>
                      <a:r>
                        <a:rPr lang="es-MX" sz="1400" b="1" dirty="0" smtClean="0"/>
                        <a:t>(30 de agosto</a:t>
                      </a:r>
                      <a:r>
                        <a:rPr lang="es-MX" sz="1400" b="1" baseline="0" dirty="0" smtClean="0"/>
                        <a:t> 2025)</a:t>
                      </a:r>
                      <a:endParaRPr lang="es-MX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- 3. Elaboración del Instructivo para el embalaje y transporte de los instrumentos de medición.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3. Instructivo para el embalaje y transporte de los instrumentos de medición</a:t>
                      </a:r>
                      <a:r>
                        <a:rPr lang="es-MX" sz="1400" b="0" dirty="0" smtClean="0"/>
                        <a:t>.</a:t>
                      </a:r>
                      <a:r>
                        <a:rPr lang="es-MX" sz="1400" b="1" dirty="0" smtClean="0"/>
                        <a:t>(30 de agosto</a:t>
                      </a:r>
                      <a:r>
                        <a:rPr lang="es-MX" sz="1400" b="1" baseline="0" dirty="0" smtClean="0"/>
                        <a:t> 2025)</a:t>
                      </a:r>
                      <a:endParaRPr lang="es-MX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9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- 4. Realizar las pruebas piloto en concordancia con el protocolo y los Procedimientos. 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4. Informe de la prueba piloto interna de las comparaciones </a:t>
                      </a:r>
                      <a:r>
                        <a:rPr lang="es-MX" sz="1400" b="0" dirty="0" err="1"/>
                        <a:t>interlaboratorios</a:t>
                      </a:r>
                      <a:r>
                        <a:rPr lang="es-MX" sz="1400" b="0" dirty="0"/>
                        <a:t> y/o ensayos de aptitud realizadas en CALAIRE.</a:t>
                      </a:r>
                      <a:r>
                        <a:rPr lang="pt-BR" sz="1400" b="1" dirty="0"/>
                        <a:t> </a:t>
                      </a:r>
                      <a:r>
                        <a:rPr lang="pt-BR" sz="1400" b="1" dirty="0" smtClean="0"/>
                        <a:t>(30 de abril</a:t>
                      </a:r>
                      <a:r>
                        <a:rPr lang="pt-BR" sz="1400" b="1" baseline="0" dirty="0" smtClean="0"/>
                        <a:t> 2026)</a:t>
                      </a:r>
                      <a:endParaRPr lang="pt-BR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86.7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8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- 5. Desarrollo del Aplicativo el software libre para la evaluación estadística de las comparaciones </a:t>
                      </a:r>
                      <a:r>
                        <a:rPr lang="es-MX" sz="1400" dirty="0" err="1"/>
                        <a:t>interlaboratorios</a:t>
                      </a:r>
                      <a:r>
                        <a:rPr lang="es-MX" sz="1400" dirty="0"/>
                        <a:t> y/o ensayos de aptitud.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5. Aplicativo en software libre para la evaluación estadística de las comparaciones </a:t>
                      </a:r>
                      <a:r>
                        <a:rPr lang="es-MX" sz="1400" b="0" dirty="0" err="1"/>
                        <a:t>interlaboratorios</a:t>
                      </a:r>
                      <a:r>
                        <a:rPr lang="es-MX" sz="1400" b="0" dirty="0"/>
                        <a:t> y/o ensayos de aptitud. E informe del análisis estadístico de los resultados de la prueba. </a:t>
                      </a:r>
                      <a:r>
                        <a:rPr lang="es-MX" sz="1400" b="1" dirty="0" smtClean="0"/>
                        <a:t>(30 de abril 2026)</a:t>
                      </a:r>
                      <a:endParaRPr lang="pt-BR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64454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7319AF60-D31A-B7ED-7FAF-F10D10CF4727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A7FD59C-32E3-7687-42FE-8EA9D12F6C1F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Diagrama de flujo: retraso 6">
                <a:extLst>
                  <a:ext uri="{FF2B5EF4-FFF2-40B4-BE49-F238E27FC236}">
                    <a16:creationId xmlns:a16="http://schemas.microsoft.com/office/drawing/2014/main" id="{4349718A-5A2A-CA06-EEE4-AC2274D51C6F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62ACEE02-BAB4-DF84-8966-6640AF08A784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6" name="Google Shape;2393;p35">
              <a:extLst>
                <a:ext uri="{FF2B5EF4-FFF2-40B4-BE49-F238E27FC236}">
                  <a16:creationId xmlns:a16="http://schemas.microsoft.com/office/drawing/2014/main" id="{72A00D98-5BE7-0466-7420-B59CA585FCE9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3946F1FE-E8D4-0EC4-D99E-E785619296F8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BC2BA4-81C0-F544-BD72-C8CB9DA7C802}" type="slidenum">
              <a:rPr lang="es-ES" smtClean="0">
                <a:solidFill>
                  <a:srgbClr val="29272D">
                    <a:tint val="75000"/>
                  </a:srgbClr>
                </a:solidFill>
                <a:latin typeface="Ancizar Sans Light"/>
              </a:rPr>
              <a:pPr/>
              <a:t>5</a:t>
            </a:fld>
            <a:r>
              <a:rPr lang="es-ES">
                <a:solidFill>
                  <a:srgbClr val="29272D">
                    <a:tint val="75000"/>
                  </a:srgbClr>
                </a:solidFill>
                <a:latin typeface="Ancizar Sans Light"/>
              </a:rPr>
              <a:t> </a:t>
            </a:r>
            <a:endParaRPr lang="es-ES" dirty="0">
              <a:solidFill>
                <a:srgbClr val="29272D">
                  <a:tint val="75000"/>
                </a:srgbClr>
              </a:solidFill>
              <a:latin typeface="Ancizar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55962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38E31-E75B-04A4-A02F-7F4B33134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45254B1-81BC-C437-A179-5E63184BF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Resultados esperados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B6D7A77-8C19-5D3E-8AB4-048B69130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9069"/>
              </p:ext>
            </p:extLst>
          </p:nvPr>
        </p:nvGraphicFramePr>
        <p:xfrm>
          <a:off x="586351" y="1437965"/>
          <a:ext cx="11398820" cy="35407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214249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5845629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338942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Resultado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Medio de verificación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- 6. Elaboración del protocolo y los procedimientos finales y actualización del Sistema de Gestión de CALAIRE que incluya el servicio de ensayos </a:t>
                      </a:r>
                      <a:r>
                        <a:rPr lang="es-MX" sz="1400" dirty="0" err="1"/>
                        <a:t>interlaboratorios</a:t>
                      </a:r>
                      <a:r>
                        <a:rPr lang="es-MX" sz="1400" dirty="0"/>
                        <a:t> y/o ensayos de aptitud a la luz de las normas ISO 17025 y ISO 17043.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6. Protocolo y procedimientos finales e Informe de la actualización del sistema de gestión del laboratorio CALAIRE.</a:t>
                      </a:r>
                      <a:r>
                        <a:rPr lang="es-MX" sz="1400" b="1" dirty="0"/>
                        <a:t> </a:t>
                      </a:r>
                      <a:r>
                        <a:rPr lang="es-MX" sz="1400" b="1" dirty="0" smtClean="0"/>
                        <a:t>(30 de septiembre de 2026)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50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400" dirty="0"/>
                        <a:t>- 7. Elaboración del costeo del servicio de </a:t>
                      </a:r>
                      <a:r>
                        <a:rPr lang="es-MX" sz="1400" dirty="0" err="1"/>
                        <a:t>intercomparaciones</a:t>
                      </a:r>
                      <a:r>
                        <a:rPr lang="es-MX" sz="1400" dirty="0"/>
                        <a:t> y/o pruebas de aptitud, la política de precios con las condiciones del servicio y finalmente actualizar el portafolio de servicios del Laboratorio CALAIRE.</a:t>
                      </a:r>
                      <a:endParaRPr lang="es-CO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s-MX" sz="1400" b="0" dirty="0"/>
                        <a:t>7.	Costeo del servicio, La política de precios con las condiciones del servicio y el Portafolio de los servicios con la inclusión de la comparación </a:t>
                      </a:r>
                      <a:r>
                        <a:rPr lang="es-MX" sz="1400" b="0" dirty="0" err="1"/>
                        <a:t>interlaboratorios</a:t>
                      </a:r>
                      <a:r>
                        <a:rPr lang="es-MX" sz="1400" b="0" dirty="0"/>
                        <a:t> y/o ensayos de aptitud. </a:t>
                      </a:r>
                      <a:r>
                        <a:rPr lang="es-MX" sz="1400" b="1" dirty="0" smtClean="0"/>
                        <a:t>(19 de octubre</a:t>
                      </a:r>
                      <a:r>
                        <a:rPr lang="es-MX" sz="1400" b="1" baseline="0" dirty="0" smtClean="0"/>
                        <a:t> de 2026)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D1272496-8D37-D56D-9FE4-14467F169184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34708865-5980-88CE-6872-9862F3066B5B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Diagrama de flujo: retraso 6">
                <a:extLst>
                  <a:ext uri="{FF2B5EF4-FFF2-40B4-BE49-F238E27FC236}">
                    <a16:creationId xmlns:a16="http://schemas.microsoft.com/office/drawing/2014/main" id="{1385EAD1-0AB5-2908-8DF8-167888CC9568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29B298B3-FB1D-9755-14F1-C290B17297D8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Google Shape;2393;p35">
              <a:extLst>
                <a:ext uri="{FF2B5EF4-FFF2-40B4-BE49-F238E27FC236}">
                  <a16:creationId xmlns:a16="http://schemas.microsoft.com/office/drawing/2014/main" id="{1A360ABF-205F-AE85-621B-C8D8DEC32716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C39E64F2-DE94-8F30-9C69-8A0FFAED73CA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73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882B-F3A2-18B8-2722-E93D5DA7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982B7B9-E261-F8F3-C2C9-D5535F6C7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Productos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20A66CC-5075-4889-82D8-8FAFA5130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209269"/>
              </p:ext>
            </p:extLst>
          </p:nvPr>
        </p:nvGraphicFramePr>
        <p:xfrm>
          <a:off x="586351" y="1499957"/>
          <a:ext cx="11019296" cy="14071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675683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3642102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580827">
                  <a:extLst>
                    <a:ext uri="{9D8B030D-6E8A-4147-A177-3AD203B41FA5}">
                      <a16:colId xmlns:a16="http://schemas.microsoft.com/office/drawing/2014/main" val="4033364064"/>
                    </a:ext>
                  </a:extLst>
                </a:gridCol>
                <a:gridCol w="2120684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Producto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Descripción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s-MX" sz="1400" b="1" dirty="0"/>
                        <a:t>Consultoría científico - tecnológica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400" b="0" dirty="0"/>
                        <a:t>Consultoría científico - tecnológica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42361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2"/>
                      </a:pPr>
                      <a:r>
                        <a:rPr lang="es-MX" sz="1400" b="1" dirty="0"/>
                        <a:t>Innovaciones en procesos, procedimientos y servicios 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400" b="0" dirty="0"/>
                        <a:t>Innovaciones en procesos, procedimientos y servicios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90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F6630B7-84A9-B6DC-CDA7-34BC5E1D2636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23D3AF5D-0D57-86C6-5858-05B09FE35166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Diagrama de flujo: retraso 6">
                <a:extLst>
                  <a:ext uri="{FF2B5EF4-FFF2-40B4-BE49-F238E27FC236}">
                    <a16:creationId xmlns:a16="http://schemas.microsoft.com/office/drawing/2014/main" id="{EC21D55C-2411-2227-CD6D-A919D74891D5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F7F7C22E-38A0-985D-9150-5CCC772D4A92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6" name="Google Shape;2393;p35">
              <a:extLst>
                <a:ext uri="{FF2B5EF4-FFF2-40B4-BE49-F238E27FC236}">
                  <a16:creationId xmlns:a16="http://schemas.microsoft.com/office/drawing/2014/main" id="{026AA184-15FF-0BA3-598B-8DBA72FA01DE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noProof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ADF7DE44-2FE5-D5A9-7E86-659B09B1BF53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BC2BA4-81C0-F544-BD72-C8CB9DA7C802}" type="slidenum">
              <a:rPr lang="es-ES" smtClean="0">
                <a:solidFill>
                  <a:srgbClr val="29272D">
                    <a:tint val="75000"/>
                  </a:srgbClr>
                </a:solidFill>
                <a:latin typeface="Ancizar Sans Light"/>
              </a:rPr>
              <a:pPr/>
              <a:t>7</a:t>
            </a:fld>
            <a:r>
              <a:rPr lang="es-ES">
                <a:solidFill>
                  <a:srgbClr val="29272D">
                    <a:tint val="75000"/>
                  </a:srgbClr>
                </a:solidFill>
                <a:latin typeface="Ancizar Sans Light"/>
              </a:rPr>
              <a:t> </a:t>
            </a:r>
            <a:endParaRPr lang="es-ES" dirty="0">
              <a:solidFill>
                <a:srgbClr val="29272D">
                  <a:tint val="75000"/>
                </a:srgbClr>
              </a:solidFill>
              <a:latin typeface="Ancizar Sans Ligh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069DDD-9E3E-2D13-8C50-4A922C3DF59D}"/>
              </a:ext>
            </a:extLst>
          </p:cNvPr>
          <p:cNvSpPr txBox="1"/>
          <p:nvPr/>
        </p:nvSpPr>
        <p:spPr>
          <a:xfrm>
            <a:off x="523591" y="3299586"/>
            <a:ext cx="11082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s-CO" dirty="0" smtClean="0"/>
              <a:t>Se trata del protocolo para los ensayos de aptitud. Cantidad 1.</a:t>
            </a:r>
          </a:p>
          <a:p>
            <a:pPr marL="342900" indent="-342900" algn="just">
              <a:buAutoNum type="arabicPeriod"/>
            </a:pPr>
            <a:endParaRPr lang="es-CO" dirty="0" smtClean="0"/>
          </a:p>
          <a:p>
            <a:pPr marL="342900" indent="-342900" algn="just">
              <a:buAutoNum type="arabicPeriod"/>
            </a:pPr>
            <a:r>
              <a:rPr lang="es-CO" dirty="0" smtClean="0"/>
              <a:t>Se trata de los procedimientos para los ensayos de aptitud de cada uno de los cuatro gases contaminantes criterio. Cantidad 4.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3642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D55B-0E4B-3CC5-5020-7BAE887B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192E6CE-501C-35A9-6D46-182C43E2A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Actividades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11F5CE2-A10C-ED2D-FD56-A5CED4697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36435"/>
              </p:ext>
            </p:extLst>
          </p:nvPr>
        </p:nvGraphicFramePr>
        <p:xfrm>
          <a:off x="586351" y="1499957"/>
          <a:ext cx="11019296" cy="5196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415340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255363">
                  <a:extLst>
                    <a:ext uri="{9D8B030D-6E8A-4147-A177-3AD203B41FA5}">
                      <a16:colId xmlns:a16="http://schemas.microsoft.com/office/drawing/2014/main" val="4033364064"/>
                    </a:ext>
                  </a:extLst>
                </a:gridCol>
                <a:gridCol w="2120684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Actividad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Mes inicial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Duración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s-MX" sz="1400" b="1" dirty="0"/>
                        <a:t>Levantamiento de la información mediante la revisión bibliográfica sobre los métodos de medición de gases contaminantes y el estudio del estado del arte de comparaciones </a:t>
                      </a:r>
                      <a:r>
                        <a:rPr lang="es-MX" sz="1400" b="1" dirty="0" err="1"/>
                        <a:t>interlaboratorios</a:t>
                      </a:r>
                      <a:r>
                        <a:rPr lang="es-MX" sz="1400" b="1" dirty="0"/>
                        <a:t> y/o ensayos de aptitud.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2"/>
                      </a:pPr>
                      <a:r>
                        <a:rPr lang="es-MX" sz="1400" b="1" dirty="0" smtClean="0"/>
                        <a:t>Recibir consultoría </a:t>
                      </a:r>
                      <a:r>
                        <a:rPr lang="es-MX" sz="1400" b="1" dirty="0"/>
                        <a:t>en normas ISO 17043 y 13528.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3"/>
                      </a:pPr>
                      <a:r>
                        <a:rPr lang="es-MX" sz="1400" b="1" dirty="0"/>
                        <a:t>Elaboración de protocolos preliminares de comparaciones </a:t>
                      </a:r>
                      <a:r>
                        <a:rPr lang="es-MX" sz="1400" b="1" dirty="0" err="1"/>
                        <a:t>interlaboratorios</a:t>
                      </a:r>
                      <a:r>
                        <a:rPr lang="es-MX" sz="1400" b="1" dirty="0"/>
                        <a:t> y/o ensayos de aptitud para cada gas contaminante.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9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4"/>
                      </a:pPr>
                      <a:r>
                        <a:rPr lang="es-MX" sz="1400" b="1" dirty="0"/>
                        <a:t>Definición de la metodología estadística a usar para las comparaciones </a:t>
                      </a:r>
                      <a:r>
                        <a:rPr lang="es-MX" sz="1400" b="1" dirty="0" err="1"/>
                        <a:t>interlaboratorio</a:t>
                      </a:r>
                      <a:r>
                        <a:rPr lang="es-MX" sz="1400" b="1" dirty="0"/>
                        <a:t> y/o ensayos de aptitud.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34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5"/>
                      </a:pPr>
                      <a:r>
                        <a:rPr lang="es-MX" sz="1400" b="1" dirty="0"/>
                        <a:t>Puesta a punto de los analizadores.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8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6"/>
                      </a:pPr>
                      <a:r>
                        <a:rPr lang="es-MX" sz="1400" b="1" dirty="0"/>
                        <a:t>Desarrollo de una prueba piloto en </a:t>
                      </a:r>
                      <a:r>
                        <a:rPr lang="es-MX" sz="1400" b="1" dirty="0" smtClean="0"/>
                        <a:t>el</a:t>
                      </a:r>
                      <a:r>
                        <a:rPr lang="es-MX" sz="1400" b="1" baseline="0" dirty="0" smtClean="0"/>
                        <a:t> </a:t>
                      </a:r>
                      <a:r>
                        <a:rPr lang="es-MX" sz="1400" b="1" dirty="0" smtClean="0"/>
                        <a:t>laboratorio </a:t>
                      </a:r>
                      <a:r>
                        <a:rPr lang="es-MX" sz="1400" b="1" dirty="0"/>
                        <a:t>CALAIRE.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 smtClean="0"/>
                        <a:t>12</a:t>
                      </a:r>
                      <a:endParaRPr lang="es-CO"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80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0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7"/>
                      </a:pPr>
                      <a:r>
                        <a:rPr lang="es-MX" sz="1400" b="1" dirty="0"/>
                        <a:t>Evaluación de los resultados de la prueba piloto.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 smtClean="0"/>
                        <a:t>14</a:t>
                      </a:r>
                      <a:endParaRPr lang="es-CO"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80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020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8"/>
                      </a:pPr>
                      <a:r>
                        <a:rPr lang="es-MX" sz="1400" b="1" dirty="0"/>
                        <a:t>Retroalimentación de la metodología estadística y elaboración de la versión final de los protocolos.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 smtClean="0"/>
                        <a:t>15</a:t>
                      </a:r>
                      <a:endParaRPr lang="es-CO"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 smtClean="0"/>
                        <a:t>3</a:t>
                      </a:r>
                      <a:endParaRPr lang="es-CO" sz="14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50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31058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60DF3338-403E-2FA3-24B5-835D0BF3904F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B8F2D6B5-C22C-85C4-DE08-1157700B2987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Diagrama de flujo: retraso 6">
                <a:extLst>
                  <a:ext uri="{FF2B5EF4-FFF2-40B4-BE49-F238E27FC236}">
                    <a16:creationId xmlns:a16="http://schemas.microsoft.com/office/drawing/2014/main" id="{0F41D1E7-794A-A003-236B-0EE27F912042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2BCA0193-4673-B5DE-A650-D6D4A33B6BDA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Google Shape;2393;p35">
              <a:extLst>
                <a:ext uri="{FF2B5EF4-FFF2-40B4-BE49-F238E27FC236}">
                  <a16:creationId xmlns:a16="http://schemas.microsoft.com/office/drawing/2014/main" id="{793710E7-9545-4B99-B0B4-0D15BF15E4D2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74441327-A498-B2DE-B8FE-62A79881E01A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631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7A69-594C-3394-7CBB-67F4897F8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1F66861-69BB-28DD-ED81-5D9A6B54C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Actividades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A3EFCEB-0FE7-0F98-FDD8-B7C1F70FB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467268"/>
              </p:ext>
            </p:extLst>
          </p:nvPr>
        </p:nvGraphicFramePr>
        <p:xfrm>
          <a:off x="586351" y="1499957"/>
          <a:ext cx="11019296" cy="28346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139913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1580828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1177871">
                  <a:extLst>
                    <a:ext uri="{9D8B030D-6E8A-4147-A177-3AD203B41FA5}">
                      <a16:colId xmlns:a16="http://schemas.microsoft.com/office/drawing/2014/main" val="4033364064"/>
                    </a:ext>
                  </a:extLst>
                </a:gridCol>
                <a:gridCol w="2120684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Actividad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Mes inicial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Duración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9"/>
                      </a:pPr>
                      <a:r>
                        <a:rPr lang="es-MX" sz="1400" b="1" dirty="0"/>
                        <a:t>Actualización del sistema de gestión del laboratorio en concordancia con la norma ISO 17025:2017.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50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10"/>
                      </a:pPr>
                      <a:r>
                        <a:rPr lang="es-MX" sz="1400" b="1" dirty="0"/>
                        <a:t>Costeo del servicio de comparaciones </a:t>
                      </a:r>
                      <a:r>
                        <a:rPr lang="es-MX" sz="1400" b="1" dirty="0" err="1"/>
                        <a:t>interlaboratorios</a:t>
                      </a:r>
                      <a:r>
                        <a:rPr lang="es-MX" sz="1400" b="1" dirty="0"/>
                        <a:t> y/o ensayos de aptitud y establecimiento de la correspondiente política de precios.</a:t>
                      </a:r>
                      <a:endParaRPr lang="es-CO" sz="14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9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 startAt="11"/>
                      </a:pPr>
                      <a:r>
                        <a:rPr lang="es-MX" sz="1400" b="1" dirty="0"/>
                        <a:t>Divulgación del servicio entre los clientes de laboratorios y redes de monitoreo de calidad del aire.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0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34024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D009AD4E-569E-6E36-708F-0D84AF96ED40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C24CB6DF-7777-51FE-0D25-3F045CA339DC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Diagrama de flujo: retraso 6">
                <a:extLst>
                  <a:ext uri="{FF2B5EF4-FFF2-40B4-BE49-F238E27FC236}">
                    <a16:creationId xmlns:a16="http://schemas.microsoft.com/office/drawing/2014/main" id="{F4A655D9-0872-2241-949A-EA9AAE42BCF4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5AAC8A7C-925C-89E1-0935-BF6C2683E139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Google Shape;2393;p35">
              <a:extLst>
                <a:ext uri="{FF2B5EF4-FFF2-40B4-BE49-F238E27FC236}">
                  <a16:creationId xmlns:a16="http://schemas.microsoft.com/office/drawing/2014/main" id="{514371DF-49EC-5F75-50C2-E6DC0CE76ACE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técnico</a:t>
              </a:r>
            </a:p>
          </p:txBody>
        </p:sp>
      </p:grpSp>
      <p:sp>
        <p:nvSpPr>
          <p:cNvPr id="9" name="Marcador de número de diapositiva 3">
            <a:extLst>
              <a:ext uri="{FF2B5EF4-FFF2-40B4-BE49-F238E27FC236}">
                <a16:creationId xmlns:a16="http://schemas.microsoft.com/office/drawing/2014/main" id="{7D4E1772-04EA-E7EE-D71E-20A398B3282A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49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E1A0-32A9-1132-428A-5887183C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D5B449-FA59-CDA1-1855-1FF121F07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Adquisición de equipos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29A455F-E14D-FC39-6F1D-5296E29B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199150"/>
              </p:ext>
            </p:extLst>
          </p:nvPr>
        </p:nvGraphicFramePr>
        <p:xfrm>
          <a:off x="586351" y="1654937"/>
          <a:ext cx="11019296" cy="20624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419602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2898183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2386739">
                  <a:extLst>
                    <a:ext uri="{9D8B030D-6E8A-4147-A177-3AD203B41FA5}">
                      <a16:colId xmlns:a16="http://schemas.microsoft.com/office/drawing/2014/main" val="4203403488"/>
                    </a:ext>
                  </a:extLst>
                </a:gridCol>
                <a:gridCol w="1314772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Equipo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Valor estimado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Valor real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Calibrador dinámico de gases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$90.000.000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$174.403.715 (CON IVA)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 smtClean="0"/>
                        <a:t>Cilindro de gases de referencia</a:t>
                      </a:r>
                      <a:endParaRPr lang="es-MX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$19.000.000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$23.970.408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17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 smtClean="0"/>
                        <a:t>Computador de escritorio</a:t>
                      </a:r>
                      <a:endParaRPr lang="es-MX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$3.920.661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$3.920.661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40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 smtClean="0"/>
                        <a:t>Computador </a:t>
                      </a:r>
                      <a:r>
                        <a:rPr lang="es-MX" sz="1600" dirty="0" err="1" smtClean="0"/>
                        <a:t>portatil</a:t>
                      </a:r>
                      <a:endParaRPr lang="es-MX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CO" sz="1600" dirty="0" smtClean="0"/>
                        <a:t>$5.057.966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CO" sz="1600" dirty="0" smtClean="0"/>
                        <a:t>$5.057.966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19542"/>
                  </a:ext>
                </a:extLst>
              </a:tr>
            </a:tbl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F5E58E49-A2AF-70E5-25BF-F690EE6ED79C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3D7C579D-38EF-5A7B-871D-C0296E441426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E80B4FDA-8E2C-83DD-0960-B5AB3424184F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D65AB164-9332-73CB-C91C-6509507DDA0E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0C5877C9-12E2-4EBA-FB98-27F82D719C03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financiero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B8764D9C-8836-3A37-F3E2-C2B6680674F0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069DDD-9E3E-2D13-8C50-4A922C3DF59D}"/>
              </a:ext>
            </a:extLst>
          </p:cNvPr>
          <p:cNvSpPr txBox="1"/>
          <p:nvPr/>
        </p:nvSpPr>
        <p:spPr>
          <a:xfrm>
            <a:off x="240573" y="4054085"/>
            <a:ext cx="11710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 smtClean="0"/>
              <a:t>Durante el período de seguimiento no se realizó la compra de equipos. </a:t>
            </a:r>
          </a:p>
          <a:p>
            <a:pPr algn="just"/>
            <a:endParaRPr lang="es-CO" sz="1600" dirty="0"/>
          </a:p>
          <a:p>
            <a:pPr algn="just"/>
            <a:r>
              <a:rPr lang="es-CO" sz="1600" dirty="0" smtClean="0"/>
              <a:t>Se presentó la falla del calibrador dinámico de gases adquirido en el proyecto, durante el período de garantía. El equipo se envió al proveedor </a:t>
            </a:r>
            <a:r>
              <a:rPr lang="es-CO" sz="1600" dirty="0" err="1" smtClean="0"/>
              <a:t>Sanambiente</a:t>
            </a:r>
            <a:r>
              <a:rPr lang="es-CO" sz="1600" dirty="0" smtClean="0"/>
              <a:t> para su revisión y reparación. Estamos esperando la evaluación del proveedor. </a:t>
            </a:r>
          </a:p>
          <a:p>
            <a:pPr algn="just"/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65668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4232-9572-FB0F-D308-A48FCFFD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BACA209-94B4-978A-4A25-33F6EB308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/>
              <a:t>Financiación</a:t>
            </a:r>
            <a:endParaRPr lang="es-CO" sz="29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5298932-6809-82D4-4233-15C22697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52809"/>
              </p:ext>
            </p:extLst>
          </p:nvPr>
        </p:nvGraphicFramePr>
        <p:xfrm>
          <a:off x="586351" y="1654937"/>
          <a:ext cx="11019296" cy="2910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419602">
                  <a:extLst>
                    <a:ext uri="{9D8B030D-6E8A-4147-A177-3AD203B41FA5}">
                      <a16:colId xmlns:a16="http://schemas.microsoft.com/office/drawing/2014/main" val="3204441696"/>
                    </a:ext>
                  </a:extLst>
                </a:gridCol>
                <a:gridCol w="2898183">
                  <a:extLst>
                    <a:ext uri="{9D8B030D-6E8A-4147-A177-3AD203B41FA5}">
                      <a16:colId xmlns:a16="http://schemas.microsoft.com/office/drawing/2014/main" val="125758236"/>
                    </a:ext>
                  </a:extLst>
                </a:gridCol>
                <a:gridCol w="2386739">
                  <a:extLst>
                    <a:ext uri="{9D8B030D-6E8A-4147-A177-3AD203B41FA5}">
                      <a16:colId xmlns:a16="http://schemas.microsoft.com/office/drawing/2014/main" val="4203403488"/>
                    </a:ext>
                  </a:extLst>
                </a:gridCol>
                <a:gridCol w="1314772">
                  <a:extLst>
                    <a:ext uri="{9D8B030D-6E8A-4147-A177-3AD203B41FA5}">
                      <a16:colId xmlns:a16="http://schemas.microsoft.com/office/drawing/2014/main" val="3989774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Ítem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Recurso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Recurso ejecutado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% Avance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65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Valor financiado fuente externa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/>
                        <a:t>$299.500.000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>
                          <a:solidFill>
                            <a:schemeClr val="tx1"/>
                          </a:solidFill>
                        </a:rPr>
                        <a:t>$259.227.477</a:t>
                      </a:r>
                      <a:endParaRPr lang="es-CO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86,5%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0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Personal docente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/>
                        <a:t>$36.310.656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>
                          <a:solidFill>
                            <a:schemeClr val="tx1"/>
                          </a:solidFill>
                        </a:rPr>
                        <a:t>$23.601.926</a:t>
                      </a:r>
                      <a:endParaRPr lang="es-CO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65,0%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3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Contrapartida en efectivo/valor financiado interno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 smtClean="0"/>
                        <a:t>$</a:t>
                      </a:r>
                      <a:r>
                        <a:rPr lang="es-E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145.559.840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CO" sz="1600" dirty="0" smtClean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s-ES" sz="16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145.559.840</a:t>
                      </a:r>
                      <a:endParaRPr lang="es-CO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100,0%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9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Contrapartida en especie fuente interna </a:t>
                      </a:r>
                      <a:endParaRPr lang="es-CO" sz="16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dirty="0"/>
                        <a:t>$101.849.700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s-CO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$74.444.700</a:t>
                      </a:r>
                      <a:endParaRPr lang="es-CO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/>
                        <a:t>73,1%</a:t>
                      </a:r>
                      <a:endParaRPr lang="es-CO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88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CO" sz="1600" b="1" dirty="0">
                          <a:solidFill>
                            <a:srgbClr val="0070C0"/>
                          </a:solidFill>
                        </a:rPr>
                        <a:t>Valor total del proyecto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b="1" dirty="0" smtClean="0">
                          <a:solidFill>
                            <a:srgbClr val="0070C0"/>
                          </a:solidFill>
                        </a:rPr>
                        <a:t>$583.220.196</a:t>
                      </a:r>
                      <a:endParaRPr lang="es-CO" sz="16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s-CO" sz="1600" b="1" dirty="0" smtClean="0">
                          <a:solidFill>
                            <a:srgbClr val="0070C0"/>
                          </a:solidFill>
                        </a:rPr>
                        <a:t>$502.833.943</a:t>
                      </a:r>
                      <a:endParaRPr lang="es-CO" sz="16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 smtClean="0">
                          <a:solidFill>
                            <a:srgbClr val="0070C0"/>
                          </a:solidFill>
                        </a:rPr>
                        <a:t>86,2%</a:t>
                      </a:r>
                      <a:endParaRPr lang="es-CO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052726"/>
                  </a:ext>
                </a:extLst>
              </a:tr>
            </a:tbl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7ED096E2-92CA-8705-D513-662D3507FAE4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7297DA67-41C7-68B0-3AA9-20E77BD35A1F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E6645CF8-FD7B-0A10-B408-A41E7C78CBF6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315A6051-7F4D-6462-1F97-5CA2BA8ABE33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64BC5A9F-1864-9BAB-AE68-BEBFADD9A783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Avance financiero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7653C455-C55E-07E3-D638-B6D1FA193690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069DDD-9E3E-2D13-8C50-4A922C3DF59D}"/>
              </a:ext>
            </a:extLst>
          </p:cNvPr>
          <p:cNvSpPr txBox="1"/>
          <p:nvPr/>
        </p:nvSpPr>
        <p:spPr>
          <a:xfrm>
            <a:off x="190611" y="4642572"/>
            <a:ext cx="117108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CO" sz="1400" dirty="0"/>
          </a:p>
          <a:p>
            <a:pPr algn="just"/>
            <a:r>
              <a:rPr lang="es-CO" sz="1400" dirty="0" smtClean="0"/>
              <a:t>No se registra incremente en la contrapartida por personal docente ya que la profesora Carmen Sánchez ha estado incapacitada desde abril.</a:t>
            </a:r>
          </a:p>
          <a:p>
            <a:pPr algn="just"/>
            <a:r>
              <a:rPr lang="es-CO" sz="1400" dirty="0" smtClean="0"/>
              <a:t> 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327220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24F0-ACF0-4F6B-1235-9A40CC7D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C4F32AB-EFC7-7D01-FD35-32FB0BD37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Temas varios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CAC207C-2105-8B22-0F28-B769131AACEA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B4710DD-0012-A434-36F6-4F25403CC137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9EADEB5B-94B4-8214-BE73-386FF1AC6F82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F83E3E1-524D-EA95-BC07-417FA9FA55D6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09C43592-276F-6335-859A-643F07A042CF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Otros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E66C4A22-1FDF-E4C9-CBFD-D9802FB45706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C069DDD-9E3E-2D13-8C50-4A922C3DF59D}"/>
              </a:ext>
            </a:extLst>
          </p:cNvPr>
          <p:cNvSpPr txBox="1"/>
          <p:nvPr/>
        </p:nvSpPr>
        <p:spPr>
          <a:xfrm>
            <a:off x="130629" y="1480624"/>
            <a:ext cx="1206137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 smtClean="0"/>
              <a:t>La tercera ronda de la prueba piloto con participantes, donde se validará la máxima capacidad del sistema, no pudo llevarse a cabo por la falla del calibrador dinámico T700U comprado en el proyecto. </a:t>
            </a:r>
          </a:p>
          <a:p>
            <a:pPr algn="just"/>
            <a:endParaRPr lang="es-CO" sz="2400" dirty="0"/>
          </a:p>
          <a:p>
            <a:pPr algn="just"/>
            <a:r>
              <a:rPr lang="es-CO" sz="2400" dirty="0" smtClean="0"/>
              <a:t>Se espera que la respuesta del proveedor tome entre 30 y 60 días. </a:t>
            </a:r>
          </a:p>
          <a:p>
            <a:pPr algn="just"/>
            <a:endParaRPr lang="es-CO" sz="2400" dirty="0"/>
          </a:p>
          <a:p>
            <a:pPr algn="just"/>
            <a:r>
              <a:rPr lang="es-CO" sz="2400" dirty="0" smtClean="0"/>
              <a:t>Por esta razón se solicita la prórroga del proyecto por 60 días con el fin poder tener claridad sobre la funcionalidad del equipo adquirido y poder usarlo para realizar la prueba piloto con participantes. </a:t>
            </a:r>
          </a:p>
          <a:p>
            <a:pPr algn="just"/>
            <a:endParaRPr lang="es-CO" sz="2400" dirty="0"/>
          </a:p>
          <a:p>
            <a:pPr algn="just"/>
            <a:endParaRPr lang="es-CO" sz="2400" dirty="0"/>
          </a:p>
          <a:p>
            <a:pPr algn="just"/>
            <a:endParaRPr lang="es-CO" sz="2400" dirty="0" smtClean="0"/>
          </a:p>
          <a:p>
            <a:pPr algn="just"/>
            <a:endParaRPr lang="es-CO" sz="2400" dirty="0"/>
          </a:p>
          <a:p>
            <a:pPr algn="just"/>
            <a:endParaRPr lang="es-CO" sz="2400" dirty="0" smtClean="0"/>
          </a:p>
        </p:txBody>
      </p:sp>
    </p:spTree>
    <p:extLst>
      <p:ext uri="{BB962C8B-B14F-4D97-AF65-F5344CB8AC3E}">
        <p14:creationId xmlns:p14="http://schemas.microsoft.com/office/powerpoint/2010/main" val="71589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24F0-ACF0-4F6B-1235-9A40CC7D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C4F32AB-EFC7-7D01-FD35-32FB0BD37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Temas varios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CAC207C-2105-8B22-0F28-B769131AACEA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B4710DD-0012-A434-36F6-4F25403CC137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9EADEB5B-94B4-8214-BE73-386FF1AC6F82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F83E3E1-524D-EA95-BC07-417FA9FA55D6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09C43592-276F-6335-859A-643F07A042CF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Otros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E66C4A22-1FDF-E4C9-CBFD-D9802FB45706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C069DDD-9E3E-2D13-8C50-4A922C3DF59D}"/>
              </a:ext>
            </a:extLst>
          </p:cNvPr>
          <p:cNvSpPr txBox="1"/>
          <p:nvPr/>
        </p:nvSpPr>
        <p:spPr>
          <a:xfrm>
            <a:off x="803366" y="1480624"/>
            <a:ext cx="105417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CO" sz="2400" dirty="0"/>
          </a:p>
          <a:p>
            <a:pPr algn="just"/>
            <a:r>
              <a:rPr lang="es-CO" sz="2400" dirty="0" smtClean="0"/>
              <a:t>Se contratará un ingeniero operativo por valor de $10.000.000 pesos, para continuar el mantenimiento de los analizadores del laboratorio y el sistema de ensayos de aptitud, y para contar con sus aportes para la integración del servicio al sistema de gestión y el posterior costeo del servicio. </a:t>
            </a:r>
          </a:p>
          <a:p>
            <a:pPr algn="just"/>
            <a:endParaRPr lang="es-CO" sz="2400" dirty="0"/>
          </a:p>
          <a:p>
            <a:pPr algn="just"/>
            <a:r>
              <a:rPr lang="es-CO" sz="2400" dirty="0" smtClean="0"/>
              <a:t>  </a:t>
            </a:r>
          </a:p>
          <a:p>
            <a:pPr algn="just"/>
            <a:endParaRPr lang="es-CO" sz="2400" dirty="0"/>
          </a:p>
          <a:p>
            <a:pPr algn="just"/>
            <a:endParaRPr lang="es-CO" sz="2400" dirty="0"/>
          </a:p>
          <a:p>
            <a:pPr algn="just"/>
            <a:endParaRPr lang="es-CO" sz="2400" dirty="0" smtClean="0"/>
          </a:p>
          <a:p>
            <a:pPr algn="just"/>
            <a:endParaRPr lang="es-CO" sz="2400" dirty="0"/>
          </a:p>
          <a:p>
            <a:pPr algn="just"/>
            <a:endParaRPr lang="es-CO" sz="2400" dirty="0" smtClean="0"/>
          </a:p>
        </p:txBody>
      </p:sp>
    </p:spTree>
    <p:extLst>
      <p:ext uri="{BB962C8B-B14F-4D97-AF65-F5344CB8AC3E}">
        <p14:creationId xmlns:p14="http://schemas.microsoft.com/office/powerpoint/2010/main" val="322406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24F0-ACF0-4F6B-1235-9A40CC7D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C4F32AB-EFC7-7D01-FD35-32FB0BD37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792247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Temas varios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CAC207C-2105-8B22-0F28-B769131AACEA}"/>
              </a:ext>
            </a:extLst>
          </p:cNvPr>
          <p:cNvGrpSpPr/>
          <p:nvPr/>
        </p:nvGrpSpPr>
        <p:grpSpPr>
          <a:xfrm>
            <a:off x="0" y="275662"/>
            <a:ext cx="3533614" cy="692211"/>
            <a:chOff x="0" y="275662"/>
            <a:chExt cx="2900767" cy="69221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1B4710DD-0012-A434-36F6-4F25403CC137}"/>
                </a:ext>
              </a:extLst>
            </p:cNvPr>
            <p:cNvGrpSpPr/>
            <p:nvPr/>
          </p:nvGrpSpPr>
          <p:grpSpPr>
            <a:xfrm>
              <a:off x="0" y="275662"/>
              <a:ext cx="2900767" cy="692211"/>
              <a:chOff x="387458" y="104263"/>
              <a:chExt cx="3487118" cy="762719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Diagrama de flujo: retraso 5">
                <a:extLst>
                  <a:ext uri="{FF2B5EF4-FFF2-40B4-BE49-F238E27FC236}">
                    <a16:creationId xmlns:a16="http://schemas.microsoft.com/office/drawing/2014/main" id="{9EADEB5B-94B4-8214-BE73-386FF1AC6F82}"/>
                  </a:ext>
                </a:extLst>
              </p:cNvPr>
              <p:cNvSpPr/>
              <p:nvPr/>
            </p:nvSpPr>
            <p:spPr>
              <a:xfrm>
                <a:off x="3068665" y="104263"/>
                <a:ext cx="805911" cy="758494"/>
              </a:xfrm>
              <a:prstGeom prst="flowChartDelay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7F83E3E1-524D-EA95-BC07-417FA9FA55D6}"/>
                  </a:ext>
                </a:extLst>
              </p:cNvPr>
              <p:cNvSpPr/>
              <p:nvPr/>
            </p:nvSpPr>
            <p:spPr>
              <a:xfrm>
                <a:off x="387458" y="108488"/>
                <a:ext cx="2743200" cy="7584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Google Shape;2393;p35">
              <a:extLst>
                <a:ext uri="{FF2B5EF4-FFF2-40B4-BE49-F238E27FC236}">
                  <a16:creationId xmlns:a16="http://schemas.microsoft.com/office/drawing/2014/main" id="{09C43592-276F-6335-859A-643F07A042CF}"/>
                </a:ext>
              </a:extLst>
            </p:cNvPr>
            <p:cNvSpPr txBox="1"/>
            <p:nvPr/>
          </p:nvSpPr>
          <p:spPr>
            <a:xfrm>
              <a:off x="156474" y="405374"/>
              <a:ext cx="2651116" cy="42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Fira Sans Extra Condensed Medium"/>
                  <a:sym typeface="Fira Sans Extra Condensed Medium"/>
                </a:rPr>
                <a:t>61134 | Otros</a:t>
              </a:r>
            </a:p>
          </p:txBody>
        </p:sp>
      </p:grp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E66C4A22-1FDF-E4C9-CBFD-D9802FB45706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C069DDD-9E3E-2D13-8C50-4A922C3DF59D}"/>
              </a:ext>
            </a:extLst>
          </p:cNvPr>
          <p:cNvSpPr txBox="1"/>
          <p:nvPr/>
        </p:nvSpPr>
        <p:spPr>
          <a:xfrm>
            <a:off x="594361" y="1512407"/>
            <a:ext cx="1109036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 smtClean="0"/>
              <a:t>Se solicita el cambio de rubro de $30,000,000 pesos para la adquisición del equipo generador de aire cero, considerando que con el recurso de servicios profesionales comprometido hasta la fecha se lograrán los objetivos </a:t>
            </a:r>
            <a:r>
              <a:rPr lang="es-CO" sz="2400" dirty="0"/>
              <a:t>del proyecto. </a:t>
            </a:r>
            <a:endParaRPr lang="es-CO" sz="2400" dirty="0" smtClean="0"/>
          </a:p>
          <a:p>
            <a:pPr algn="just"/>
            <a:endParaRPr lang="es-CO" sz="2400" dirty="0"/>
          </a:p>
          <a:p>
            <a:pPr algn="just"/>
            <a:r>
              <a:rPr lang="es-CO" sz="2400" dirty="0" smtClean="0"/>
              <a:t>La adquisición del generador de aire cero se </a:t>
            </a:r>
            <a:r>
              <a:rPr lang="es-CO" sz="2400" dirty="0"/>
              <a:t>tenía </a:t>
            </a:r>
            <a:r>
              <a:rPr lang="es-CO" sz="2400" dirty="0" smtClean="0"/>
              <a:t>planeada en el proyecto, pero en 2025 el precio del calibrador dinámico importado fue mayor al presupuestado y tuvimos que hacer una priorización. En este momento el dólar estadounidense es menor y el laboratorio cuenta con recurso financiero disponible para completar su compra (Aproximadamente $25.000.000). </a:t>
            </a:r>
          </a:p>
          <a:p>
            <a:pPr algn="just"/>
            <a:r>
              <a:rPr lang="es-CO" sz="2400" dirty="0" smtClean="0"/>
              <a:t>  </a:t>
            </a:r>
          </a:p>
          <a:p>
            <a:pPr algn="just"/>
            <a:endParaRPr lang="es-CO" sz="2400" dirty="0"/>
          </a:p>
          <a:p>
            <a:pPr algn="just"/>
            <a:endParaRPr lang="es-CO" sz="2400" dirty="0"/>
          </a:p>
          <a:p>
            <a:pPr algn="just"/>
            <a:endParaRPr lang="es-CO" sz="2400" dirty="0" smtClean="0"/>
          </a:p>
          <a:p>
            <a:pPr algn="just"/>
            <a:endParaRPr lang="es-CO" sz="2400" dirty="0"/>
          </a:p>
          <a:p>
            <a:pPr algn="just"/>
            <a:endParaRPr lang="es-CO" sz="2400" dirty="0" smtClean="0"/>
          </a:p>
        </p:txBody>
      </p:sp>
    </p:spTree>
    <p:extLst>
      <p:ext uri="{BB962C8B-B14F-4D97-AF65-F5344CB8AC3E}">
        <p14:creationId xmlns:p14="http://schemas.microsoft.com/office/powerpoint/2010/main" val="75643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D8484-8092-1017-DA8F-D949611D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A50DBED-172A-25C5-55E8-CEF2AD255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232" y="2946512"/>
            <a:ext cx="8819535" cy="692211"/>
          </a:xfrm>
        </p:spPr>
        <p:txBody>
          <a:bodyPr>
            <a:normAutofit/>
          </a:bodyPr>
          <a:lstStyle/>
          <a:p>
            <a:r>
              <a:rPr lang="es-CO" sz="2900" dirty="0"/>
              <a:t>Gracias</a:t>
            </a:r>
          </a:p>
        </p:txBody>
      </p:sp>
      <p:sp>
        <p:nvSpPr>
          <p:cNvPr id="11" name="Marcador de número de diapositiva 3">
            <a:extLst>
              <a:ext uri="{FF2B5EF4-FFF2-40B4-BE49-F238E27FC236}">
                <a16:creationId xmlns:a16="http://schemas.microsoft.com/office/drawing/2014/main" id="{38854B70-8327-83F9-0BEC-DE6D7EFBE81E}"/>
              </a:ext>
            </a:extLst>
          </p:cNvPr>
          <p:cNvSpPr txBox="1">
            <a:spLocks/>
          </p:cNvSpPr>
          <p:nvPr/>
        </p:nvSpPr>
        <p:spPr>
          <a:xfrm>
            <a:off x="190611" y="642162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29272D">
                    <a:tint val="75000"/>
                  </a:srgbClr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 </a:t>
            </a: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29272D">
                  <a:tint val="75000"/>
                </a:srgbClr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66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</TotalTime>
  <Words>1497</Words>
  <Application>Microsoft Office PowerPoint</Application>
  <PresentationFormat>Panorámica</PresentationFormat>
  <Paragraphs>246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5" baseType="lpstr">
      <vt:lpstr>Ancizar Sans Light</vt:lpstr>
      <vt:lpstr>Aptos</vt:lpstr>
      <vt:lpstr>Aptos Display</vt:lpstr>
      <vt:lpstr>Arial</vt:lpstr>
      <vt:lpstr>Fira Sans Extra Condensed Medium</vt:lpstr>
      <vt:lpstr>Roboto</vt:lpstr>
      <vt:lpstr>Verdana</vt:lpstr>
      <vt:lpstr>Wingdings</vt:lpstr>
      <vt:lpstr>Tema de Office</vt:lpstr>
      <vt:lpstr>Diseño personalizado</vt:lpstr>
      <vt:lpstr>Reunión de seguimiento 09 8/7/2026</vt:lpstr>
      <vt:lpstr>Agenda </vt:lpstr>
      <vt:lpstr>Objetivos</vt:lpstr>
      <vt:lpstr>Objetivos</vt:lpstr>
      <vt:lpstr>Resultados esperados</vt:lpstr>
      <vt:lpstr>Resultados esperados</vt:lpstr>
      <vt:lpstr>Productos</vt:lpstr>
      <vt:lpstr>Actividades</vt:lpstr>
      <vt:lpstr>Actividades</vt:lpstr>
      <vt:lpstr>Adquisición de equipos</vt:lpstr>
      <vt:lpstr>Financiación</vt:lpstr>
      <vt:lpstr>Temas varios</vt:lpstr>
      <vt:lpstr>Temas varios</vt:lpstr>
      <vt:lpstr>Temas varios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 GARCIA-H. NARIÑO</dc:creator>
  <cp:lastModifiedBy>Admin</cp:lastModifiedBy>
  <cp:revision>137</cp:revision>
  <dcterms:created xsi:type="dcterms:W3CDTF">2024-04-24T15:10:31Z</dcterms:created>
  <dcterms:modified xsi:type="dcterms:W3CDTF">2026-07-08T20:45:42Z</dcterms:modified>
</cp:coreProperties>
</file>