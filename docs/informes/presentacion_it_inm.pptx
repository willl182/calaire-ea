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Encuadre según guía metodológica del INM (§3.1): carácter de intercambio de conocimiento. Presentación ~35 min, resto para preguntas técnicas y matriz de riesgos.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 alineado con las 4 categorías del Formato – Guía para la Reunión técnica, para diligenciamiento directo durante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Implementación de ensayos de aptitud en la matriz aire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Caso gases contaminantes criterio — Proyecto 61134 · Convenio 005-2023 INM–UNAL</a:t>
            </a:r>
            <a:br/>
            <a:br/>
            <a:r>
              <a:rPr/>
              <a:t>Laboratorio CALAIRE — Facultad de Minas, Universidad Nacional de Colombia, Sede Medellín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Intercambio Técnico INM–UNAL · 12 de agosto de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Contexto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Marco del encuentro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Convenio 005-2023 INM–UNAL: fortalecimiento de capacidades metrológicas y de innovación de los laboratorios UNAL.</a:t>
            </a:r>
          </a:p>
          <a:p>
            <a:pPr lvl="0"/>
            <a:r>
              <a:rPr/>
              <a:t>Proyecto 61134 (Sede Medellín, Facultad de Minas): </a:t>
            </a:r>
            <a:r>
              <a:rPr i="1"/>
              <a:t>Implementación de ensayos de aptitud en la matriz aire. Caso gases contaminantes criterio</a:t>
            </a:r>
            <a:r>
              <a:rPr/>
              <a:t>.</a:t>
            </a:r>
          </a:p>
          <a:p>
            <a:pPr lvl="0"/>
            <a:r>
              <a:rPr/>
              <a:t>Intercambio técnico: espacio de cooperación entre expertos, no de control — orientado a identificar riesgos y oportunidades de articulación.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Objetivo del proyecto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Objetivo:</a:t>
            </a:r>
            <a:r>
              <a:rPr/>
              <a:t> establecer un servicio de comparaciones interlaboratorios y/o ensayos de aptitud (EA) para la evaluación competente, imparcial e independiente del desempeño de laboratorios y redes de monitoreo de calidad del aire del país y la región.</a:t>
            </a:r>
          </a:p>
          <a:p>
            <a:pPr lvl="0"/>
            <a:r>
              <a:rPr b="1"/>
              <a:t>Alcance:</a:t>
            </a:r>
            <a:r>
              <a:rPr/>
              <a:t> gases contaminantes criterio — </a:t>
            </a:r>
            <a:r>
              <a:rPr b="1"/>
              <a:t>CO, NOx, SO₂, O₃</a:t>
            </a:r>
            <a:r>
              <a:rPr/>
              <a:t>.</a:t>
            </a:r>
          </a:p>
          <a:p>
            <a:pPr lvl="0"/>
            <a:r>
              <a:rPr b="1"/>
              <a:t>Base normativa:</a:t>
            </a:r>
            <a:r>
              <a:rPr/>
              <a:t> ISO/IEC 17043:2023 (proveedores de ensayos de aptitud) e ISO 13528:2017 (métodos estadísticos).</a:t>
            </a:r>
          </a:p>
          <a:p>
            <a:pPr lvl="0"/>
            <a:r>
              <a:rPr b="1"/>
              <a:t>Articulación:</a:t>
            </a:r>
            <a:r>
              <a:rPr/>
              <a:t> sistema de gestión del Laboratorio CALAIRE bajo NTC ISO/IEC 17025.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Productos comprometidos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Informe de estado del arte de comparaciones interlaboratorios y EA.</a:t>
            </a:r>
          </a:p>
          <a:p>
            <a:pPr lvl="0"/>
            <a:r>
              <a:rPr/>
              <a:t>Protocolos de EA por gas contaminante criterio.</a:t>
            </a:r>
          </a:p>
          <a:p>
            <a:pPr lvl="0"/>
            <a:r>
              <a:rPr/>
              <a:t>Instructivo de embalaje y transporte de instrumentos de medición.</a:t>
            </a:r>
          </a:p>
          <a:p>
            <a:pPr lvl="0"/>
            <a:r>
              <a:rPr/>
              <a:t>Informe de la prueba piloto interna realizada en CALAIRE.</a:t>
            </a:r>
          </a:p>
          <a:p>
            <a:pPr lvl="0"/>
            <a:r>
              <a:rPr/>
              <a:t>Integración documental de los protocolos al sistema de gestión.</a:t>
            </a:r>
          </a:p>
          <a:p>
            <a:pPr lvl="0"/>
            <a:r>
              <a:rPr/>
              <a:t>Aplicativo de software libre para la evaluación estadística de los EA, con registro de pruebas y hallazgos.</a:t>
            </a:r>
          </a:p>
          <a:p>
            <a:pPr lvl="0"/>
            <a:r>
              <a:rPr/>
              <a:t>Insumos técnicos para el costeo del servicio.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Avances técnicos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Estado del arte y protocolos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Informe de estado del arte </a:t>
            </a:r>
            <a:r>
              <a:rPr b="1"/>
              <a:t>terminado</a:t>
            </a:r>
            <a:r>
              <a:rPr/>
              <a:t>: procedimientos internacionales de EA, requisitos de trazabilidad metrológica y criterios de aceptación de las mediciones.</a:t>
            </a:r>
          </a:p>
          <a:p>
            <a:pPr lvl="0"/>
            <a:r>
              <a:rPr b="1"/>
              <a:t>Cinco protocolos y procedimientos de medición en versión final</a:t>
            </a:r>
            <a:r>
              <a:rPr/>
              <a:t>, remitidos para revisión e integración al sistema de gestión (control de cambios en curso).</a:t>
            </a:r>
          </a:p>
          <a:p>
            <a:pPr lvl="0"/>
            <a:r>
              <a:rPr/>
              <a:t>Estructura documental del servicio bajo el proceso PSEA: formatos (F-PSEA), instructivos (I-PSEA) y documentos guía (DG-PSEA).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Marco estadístico definido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Metodología de comparación conforme a ISO 13528: estimadores robustos — </a:t>
            </a:r>
            <a:r>
              <a:rPr b="1"/>
              <a:t>Algoritmo A, NIQR, MADe</a:t>
            </a:r>
            <a:r>
              <a:rPr/>
              <a:t> — implementados y verificados en el aplicativo estadístico.</a:t>
            </a:r>
          </a:p>
          <a:p>
            <a:pPr lvl="0"/>
            <a:r>
              <a:rPr b="1"/>
              <a:t>Puntajes Z y Z’ adoptados como métricas iniciales de desempeño</a:t>
            </a:r>
            <a:r>
              <a:rPr/>
              <a:t>: ISO 17043 permite avanzar sin exigir la incertidumbre reportada por el participante.</a:t>
            </a:r>
          </a:p>
          <a:p>
            <a:pPr lvl="0"/>
            <a:r>
              <a:rPr/>
              <a:t>Homogeneidad y estabilidad de los ítems de ensayo evaluadas con ANOVA y pruebas t.</a:t>
            </a:r>
          </a:p>
          <a:p>
            <a:pPr lvl="0"/>
            <a:r>
              <a:rPr/>
              <a:t>Estrategia para consolidar la desviación estándar del ensayo: </a:t>
            </a:r>
            <a:r>
              <a:rPr b="1"/>
              <a:t>réplicas internas del proceso de medición + rondas adicionales</a:t>
            </a:r>
            <a:r>
              <a:rPr/>
              <a:t> (meta: &gt;12 datos por analito); revisión comparativa de normas europeas y handbook EPA para métricas complementarias.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Prueba piloto — rondas ejecutadas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 / SO₂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 simple, 1 participante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Semana 20-abr-2026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O₃ / NO / NO₂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Ejecutada con participante único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Semana 27-abr-2026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O₃ / NO / NO₂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 simple, participante Corantioquia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al 17-jul-2026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1905000"/>
          </a:xfrm>
        </p:spPr>
        <p:txBody>
          <a:bodyPr/>
          <a:lstStyle/>
          <a:p>
            <a:pPr lvl="0"/>
            <a:r>
              <a:rPr/>
              <a:t>Secuencia operativa validada: instalación, calibración multipunto, medición por niveles (cero + 4 niveles descendentes), devolución y cierre logístico.</a:t>
            </a:r>
          </a:p>
          <a:p>
            <a:pPr lvl="0"/>
            <a:r>
              <a:rPr/>
              <a:t>R3 replicó el flujo con un </a:t>
            </a:r>
            <a:r>
              <a:rPr b="1"/>
              <a:t>segundo laboratorio participante</a:t>
            </a:r>
            <a:r>
              <a:rPr/>
              <a:t> y parque instrumental distinto: corridas de O₃, NO y NO₂ (esta última por titulación en fase gaseosa, GPT), con operación nocturna continua de 13–15 h por contaminante.</a:t>
            </a:r>
          </a:p>
          <a:p>
            <a:pPr lvl="0"/>
            <a:r>
              <a:rPr b="1"/>
              <a:t>Próximas rondas:</a:t>
            </a:r>
            <a:r>
              <a:rPr/>
              <a:t> ronda con participantes con conjunto completo de analizadores; réplica de CO/SO₂ con participante que disponga de esos analizadores; réplicas internas; ronda con 4–5 participantes para habilitar estimación robusta (MADe).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meline_pilo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Cronología de la prueba piloto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Balance del piloto —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Generación de ítems de ensayo, logística en sitio y secuencias de medición </a:t>
            </a:r>
            <a:r>
              <a:rPr b="1"/>
              <a:t>validadas operativamente</a:t>
            </a:r>
            <a:r>
              <a:rPr/>
              <a:t> en tres rondas, con dos laboratorios participantes distintos.</a:t>
            </a:r>
          </a:p>
          <a:p>
            <a:pPr lvl="0"/>
            <a:r>
              <a:rPr/>
              <a:t>Repetibilidad del flujo del esquema demostrada en R3 (instalación, calibración, medición continua día/noche, desmontaje y cierre de registros), incluida generación de NO₂ por GPT.</a:t>
            </a:r>
          </a:p>
          <a:p>
            <a:pPr lvl="0"/>
            <a:r>
              <a:rPr/>
              <a:t>Instructivo de cálculo y reporte de resultados entregado a participantes desde R3 (ventanas horarias, promedios, incertidumbre expandida).</a:t>
            </a:r>
          </a:p>
          <a:p>
            <a:pPr lvl="0"/>
            <a:r>
              <a:rPr/>
              <a:t>Evaluación de desempeño viable con puntajes Z/Z’ pese a ausencia de incertidumbres reportadas por participantes.</a:t>
            </a:r>
          </a:p>
          <a:p>
            <a:pPr lvl="0"/>
            <a:r>
              <a:rPr/>
              <a:t>Lecciones incorporadas al sistema de gestión (registro F-PSEA-15):</a:t>
            </a:r>
          </a:p>
          <a:p>
            <a:pPr lvl="1"/>
            <a:r>
              <a:rPr/>
              <a:t>Verificación pre-ronda de repuestos y del sistema GPT con criterio de aceptación (checklist F-PSEA-08).</a:t>
            </a:r>
          </a:p>
          <a:p>
            <a:pPr lvl="1"/>
            <a:r>
              <a:rPr/>
              <a:t>Criterio de temperatura ambiental para O₃ y aire cero exclusivo para calibración y generación de ítems.</a:t>
            </a:r>
          </a:p>
          <a:p>
            <a:pPr lvl="1"/>
            <a:r>
              <a:rPr/>
              <a:t>Requisitos al participante: llegada de equipos el día anterior, presencia ≤ 8:00 y disponibilidad en sitio durante el ensayo.</a:t>
            </a:r>
          </a:p>
          <a:p>
            <a:pPr lvl="0"/>
            <a:r>
              <a:rPr/>
              <a:t>Restricciones confirmadas en R3: manifold de una sola salida limita participantes simultáneos; se requiere control térmico del área de prueba para ventanas de medición prolongadas.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Integración al sistema de gestión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Mapeo de requisitos de ISO/IEC 17043:2023 sobre la estructura documental del laboratorio.</a:t>
            </a:r>
          </a:p>
          <a:p>
            <a:pPr lvl="0"/>
            <a:r>
              <a:rPr/>
              <a:t>Módulo de gestión centralizado del esquema: rondas, participantes, requisitos documentales y registros.</a:t>
            </a:r>
          </a:p>
          <a:p>
            <a:pPr lvl="0"/>
            <a:r>
              <a:rPr/>
              <a:t>Documentos del servicio en flujo de revisión y control de cambios para su incorporación formal al SGC (NTC ISO/IEC 17025).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Aplicativos desarrollados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pt_app — evaluación estadística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Aplicativo estadístico en </a:t>
            </a:r>
            <a:r>
              <a:rPr b="1"/>
              <a:t>software libre (R/Shiny)</a:t>
            </a:r>
            <a:r>
              <a:rPr/>
              <a:t> para la evaluación de resultados y elaboración de informes de los EA (DG-PSEA-03), desplegado en shinyapps.io:</a:t>
            </a:r>
          </a:p>
          <a:p>
            <a:pPr lvl="0"/>
            <a:r>
              <a:rPr/>
              <a:t>Carga y validación de datos de participantes.</a:t>
            </a:r>
          </a:p>
          <a:p>
            <a:pPr lvl="0"/>
            <a:r>
              <a:rPr/>
              <a:t>Homogeneidad y estabilidad de ítems (ANOVA, t-test).</a:t>
            </a:r>
          </a:p>
          <a:p>
            <a:pPr lvl="0"/>
            <a:r>
              <a:rPr/>
              <a:t>Núcleo robusto: Algoritmo A, NIQR, MADe.</a:t>
            </a:r>
          </a:p>
          <a:p>
            <a:pPr lvl="0"/>
            <a:r>
              <a:rPr/>
              <a:t>Puntajes de desempeño e informe automatizado (R Markdown).</a:t>
            </a:r>
          </a:p>
          <a:p>
            <a:pPr lvl="0"/>
            <a:r>
              <a:rPr/>
              <a:t>Dashboards interactivos: boxplots, histogramas, gráficos de puntajes.</a:t>
            </a:r>
          </a:p>
          <a:p>
            <a:pPr lvl="0" indent="0" marL="0">
              <a:buNone/>
            </a:pPr>
            <a:r>
              <a:rPr b="1"/>
              <a:t>Estado:</a:t>
            </a:r>
            <a:r>
              <a:rPr/>
              <a:t> entregado en su totalidad con documentación e informe de validación de cálculos y procesos; pendiente únicamente la prueba como usuario final en la última ronda del piloto.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calaire-app — gestión de rondas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Aplicativo de gestión de rondas del esquema de ensayos de aptitud (DG-PSEA-02), versión actual en desarrollo (calaire-app2):</a:t>
            </a:r>
          </a:p>
          <a:p>
            <a:pPr lvl="0"/>
            <a:r>
              <a:rPr/>
              <a:t>Administración de rondas, participantes e inscripciones.</a:t>
            </a:r>
          </a:p>
          <a:p>
            <a:pPr lvl="0"/>
            <a:r>
              <a:rPr/>
              <a:t>Trazabilidad de requisitos documentales de ISO/IEC 17043.</a:t>
            </a:r>
          </a:p>
          <a:p>
            <a:pPr lvl="0"/>
            <a:r>
              <a:rPr/>
              <a:t>Soporte a la operación del piloto y a la formalización del servicio.</a:t>
            </a:r>
          </a:p>
          <a:p>
            <a:pPr lvl="0" indent="0" marL="0">
              <a:buNone/>
            </a:pPr>
            <a:r>
              <a:rPr b="1"/>
              <a:t>Mejoras derivadas del piloto:</a:t>
            </a:r>
            <a:r>
              <a:rPr/>
              <a:t> asignación de identificadores aleatorios a participantes (confidencialidad) y ajuste del flujo de descarga y almacenamiento de datos crudos.</a:t>
            </a:r>
          </a:p>
          <a:p>
            <a:pPr lvl="0" indent="0" marL="0">
              <a:buNone/>
            </a:pPr>
            <a:r>
              <a:rPr b="1"/>
              <a:t>Estado:</a:t>
            </a:r>
            <a:r>
              <a:rPr/>
              <a:t> entregado; pendiente únicamente la prueba operativa en la última ronda del piloto.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Resultados, cronograma y finalización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a la fecha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Informe de estado del arte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Protocolos de EA por analito (5)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Versión final, en integración al SGC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Instructivo embalaje y transporte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Prueba piloto interna (R1, R2, R3)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Ejecutada; informes operativos emitidos (v3-1 para R1/R2; R3 Corantioquia v1)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Marco estadístico (Z/Z’, robustos)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Definido y formalizado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pt_app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Entregado; pendiente prueba en última ronda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calaire-app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Entregado; pendiente prueba en última ronda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Costeo del servicio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Insumos técnicos en elaboración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Cronograma de actividades pendientes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Rondas adicionales: réplicas internas sin participantes externos, réplica de CO/SO₂ con participante habilitado y ronda multiparticipante (4–5) para muestra intercomparativa.</a:t>
            </a:r>
          </a:p>
          <a:p>
            <a:pPr lvl="0"/>
            <a:r>
              <a:rPr/>
              <a:t>Mejoras de infraestructura: manifold multi-salida y control térmico del área de prueba, previas al escalamiento multi-participante.</a:t>
            </a:r>
          </a:p>
          <a:p>
            <a:pPr lvl="0"/>
            <a:r>
              <a:rPr/>
              <a:t>Consolidación de la desviación estándar del ensayo y de la reproducibilidad intermedia.</a:t>
            </a:r>
          </a:p>
          <a:p>
            <a:pPr lvl="0"/>
            <a:r>
              <a:rPr/>
              <a:t>Cierre del ciclo de validación del aplicativo estadístico como usuario final.</a:t>
            </a:r>
          </a:p>
          <a:p>
            <a:pPr lvl="0"/>
            <a:r>
              <a:rPr/>
              <a:t>Integración final de protocolos y procedimientos al SGC con control de cambios.</a:t>
            </a:r>
          </a:p>
          <a:p>
            <a:pPr lvl="0"/>
            <a:r>
              <a:rPr/>
              <a:t>Costeo y análisis de viabilidad del servicio postpiloto.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ntt_pilo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Cronograma de la prueba piloto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Fecha de finalización proyectada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Ejecución contractual del rol técnico líder proyectada a </a:t>
            </a:r>
            <a:r>
              <a:rPr b="1"/>
              <a:t>diciembre de 2026</a:t>
            </a:r>
            <a:r>
              <a:rPr/>
              <a:t>.</a:t>
            </a:r>
          </a:p>
          <a:p>
            <a:pPr lvl="0"/>
            <a:r>
              <a:rPr/>
              <a:t>La reprogramación de rondas por la indisponibilidad temporal del calibrador dinámico motivó la </a:t>
            </a:r>
            <a:r>
              <a:rPr b="1"/>
              <a:t>gestión de prórroga ante la instancia de seguimiento institucional</a:t>
            </a:r>
            <a:r>
              <a:rPr/>
              <a:t>, para asegurar el cierre completo de rondas pendientes y validación estadística.</a:t>
            </a:r>
          </a:p>
          <a:p>
            <a:pPr lvl="0"/>
            <a:r>
              <a:rPr/>
              <a:t>Hitos de cierre: rondas restantes → consolidación estadística → informe final del piloto → protocolos integrados al SGC → servicio listo para etapa comercial.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Dificultades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Dificultades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Daño del calibrador dinámico Teledyne API T700U</a:t>
            </a:r>
            <a:r>
              <a:rPr/>
              <a:t> — principal dificultad del periodo.</a:t>
            </a:r>
          </a:p>
          <a:p>
            <a:pPr lvl="1"/>
            <a:r>
              <a:rPr/>
              <a:t>Equipo </a:t>
            </a:r>
            <a:r>
              <a:rPr b="1"/>
              <a:t>en garantía con el proveedor; actualmente en pruebas</a:t>
            </a:r>
            <a:r>
              <a:rPr/>
              <a:t> de verificación técnica.</a:t>
            </a:r>
          </a:p>
          <a:p>
            <a:pPr lvl="1"/>
            <a:r>
              <a:rPr/>
              <a:t>Impacto: disponibilidad para las rondas siguientes del piloto.</a:t>
            </a:r>
          </a:p>
          <a:p>
            <a:pPr lvl="1"/>
            <a:r>
              <a:rPr/>
              <a:t>Mitigación: reprogramación de rondas, gestión de prórroga y seguimiento formal del caso de garantía.</a:t>
            </a:r>
          </a:p>
          <a:p>
            <a:pPr lvl="0"/>
            <a:r>
              <a:rPr/>
              <a:t>Ausencia de estimaciones de incertidumbre de los participantes: mitigada con puntajes Z/Z’ (conformes a ISO 17043) y asesoría experta en metrología para el modelo de incertidumbre.</a:t>
            </a:r>
          </a:p>
          <a:p>
            <a:pPr lvl="0"/>
            <a:r>
              <a:rPr/>
              <a:t>Infraestructura limita participantes simultáneos por ronda: manifold de una entrada/una salida, generación de aire cero y ausencia de control térmico del área de prueba (oscilaciones 18–23 °C observadas en R3, relevantes para O₃).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Dificultades administrativas y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Coordinación de la participación externa: inasistencias institucionales obligaron a reprogramar la ronda multiparticipante.</a:t>
            </a:r>
          </a:p>
          <a:p>
            <a:pPr lvl="0"/>
            <a:r>
              <a:rPr/>
              <a:t>Continuidad de la capacidad técnica del equipo del proyecto entre etapas contractuales.</a:t>
            </a:r>
          </a:p>
          <a:p>
            <a:pPr lvl="0"/>
            <a:r>
              <a:rPr/>
              <a:t>Sostenibilidad: transición del piloto a un servicio comercializable exige finalizar protocolos, consolidar el modelo de costos y asegurar la infraestructura de generación de ítems.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Insumos para la matriz de riesgos y articulación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Categoría (formato INM)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Riesgo preliminar identificado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Objetivos y alcance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Retraso en rondas por disponibilidad del calibrador T700U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Desviación estándar del ensayo con muestra aún insuficiente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Técnicas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Incertidumbre de participantes no reportada; límite de infraestructura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Administrativas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Tiempos de garantía del proveedor; continuidad contractual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95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Oportunidades de articulación con el INM:</a:t>
            </a:r>
            <a:r>
              <a:rPr/>
              <a:t> trazabilidad metrológica de las mezclas de gases, materiales de referencia, asesoría en modelos de incertidumbre del valor asignado y experiencia como proveedor acreditado de EA.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 ensayos de aptitud en la matriz aire</dc:title>
  <dc:creator>Laboratorio CALAIRE — Facultad de Minas, Universidad Nacional de Colombia, Sede Medellín</dc:creator>
  <cp:keywords/>
  <dcterms:created xsi:type="dcterms:W3CDTF">2026-08-12T10:05:04Z</dcterms:created>
  <dcterms:modified xsi:type="dcterms:W3CDTF">2026-08-12T10:05:04Z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Intercambio Técnico INM–UNAL · 12 de agosto de 2026</vt:lpwstr>
  </property>
  <property fmtid="{D5CDD505-2E9C-101B-9397-08002B2CF9AE}" pid="3" name="subtitle">
    <vt:lpwstr>Caso gases contaminantes criterio — Proyecto 61134 · Convenio 005-2023 INM–UNAL</vt:lpwstr>
  </property>
</Properties>
</file>