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notesMaster" Target="notesMasters/notesMaster1.xml" /><Relationship Id="rId38" Type="http://schemas.openxmlformats.org/officeDocument/2006/relationships/viewProps" Target="viewProps.xml" /><Relationship Id="rId3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0" Type="http://schemas.openxmlformats.org/officeDocument/2006/relationships/tableStyles" Target="tableStyles.xml" /><Relationship Id="rId3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Encuadre según guía metodológica del INM (§3.1): carácter de intercambio de conocimiento. Presentación ~35 min, resto para preguntas técnicas y matriz de riesgos. Distinguir la línea base del seguimiento 09 de los avances posteriores, en particular la ronda con Corantioquia.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Cadena de trazabilidad usada: objetivo → medio de verificación → resultado/producto → actividad → estado → riesgo o acción de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Los porcentajes corresponden a la línea base presentada el 8-jul-2026. Los textos de estado posteriores describen la actualización técnica al 12-ago-2026 y no implican el cierre contractual de los resultados aún pendientes.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 alineado con las 4 categorías del Formato – Guía para la Reunión técnica, para diligenciamiento directo durante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5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3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100" b="1"/>
            </a:lvl4pPr>
            <a:lvl5pPr marL="1371600" indent="0">
              <a:buNone/>
              <a:defRPr sz="1100" b="1"/>
            </a:lvl5pPr>
            <a:lvl6pPr marL="1714500" indent="0">
              <a:buNone/>
              <a:defRPr sz="1100" b="1"/>
            </a:lvl6pPr>
            <a:lvl7pPr marL="2057400" indent="0">
              <a:buNone/>
              <a:defRPr sz="1100" b="1"/>
            </a:lvl7pPr>
            <a:lvl8pPr marL="2400300" indent="0">
              <a:buNone/>
              <a:defRPr sz="1100" b="1"/>
            </a:lvl8pPr>
            <a:lvl9pPr marL="274320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3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100" b="1"/>
            </a:lvl4pPr>
            <a:lvl5pPr marL="1371600" indent="0">
              <a:buNone/>
              <a:defRPr sz="1100" b="1"/>
            </a:lvl5pPr>
            <a:lvl6pPr marL="1714500" indent="0">
              <a:buNone/>
              <a:defRPr sz="1100" b="1"/>
            </a:lvl6pPr>
            <a:lvl7pPr marL="2057400" indent="0">
              <a:buNone/>
              <a:defRPr sz="1100" b="1"/>
            </a:lvl7pPr>
            <a:lvl8pPr marL="2400300" indent="0">
              <a:buNone/>
              <a:defRPr sz="1100" b="1"/>
            </a:lvl8pPr>
            <a:lvl9pPr marL="274320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9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900"/>
            </a:lvl1pPr>
            <a:lvl2pPr marL="342900" indent="0">
              <a:buNone/>
              <a:defRPr sz="1700"/>
            </a:lvl2pPr>
            <a:lvl3pPr marL="685800" indent="0">
              <a:buNone/>
              <a:defRPr sz="1500"/>
            </a:lvl3pPr>
            <a:lvl4pPr marL="1028700" indent="0">
              <a:buNone/>
              <a:defRPr sz="1300"/>
            </a:lvl4pPr>
            <a:lvl5pPr marL="1371600" indent="0">
              <a:buNone/>
              <a:defRPr sz="1300"/>
            </a:lvl5pPr>
            <a:lvl6pPr marL="1714500" indent="0">
              <a:buNone/>
              <a:defRPr sz="1300"/>
            </a:lvl6pPr>
            <a:lvl7pPr marL="2057400" indent="0">
              <a:buNone/>
              <a:defRPr sz="1300"/>
            </a:lvl7pPr>
            <a:lvl8pPr marL="2400300" indent="0">
              <a:buNone/>
              <a:defRPr sz="1300"/>
            </a:lvl8pPr>
            <a:lvl9pPr marL="2743200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9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7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8000"/>
        </a:spcBef>
        <a:buFont typeface="Arial"/>
        <a:buChar char="•"/>
        <a:defRPr kern="1200" sz="19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8000"/>
        </a:spcBef>
        <a:buFont typeface="Arial"/>
        <a:buChar char="–"/>
        <a:defRPr kern="1200" sz="17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8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8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8000"/>
        </a:spcBef>
        <a:buFont typeface="Arial"/>
        <a:buChar char="»"/>
        <a:defRPr kern="1200" sz="13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8000"/>
        </a:spcBef>
        <a:buFont typeface="Arial"/>
        <a:buChar char="•"/>
        <a:defRPr kern="1200" sz="13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8000"/>
        </a:spcBef>
        <a:buFont typeface="Arial"/>
        <a:buChar char="•"/>
        <a:defRPr kern="1200" sz="13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8000"/>
        </a:spcBef>
        <a:buFont typeface="Arial"/>
        <a:buChar char="•"/>
        <a:defRPr kern="1200" sz="13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8000"/>
        </a:spcBef>
        <a:buFont typeface="Arial"/>
        <a:buChar char="•"/>
        <a:defRPr kern="1200" sz="13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Implementación de ensayos de aptitud en la matriz aire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Caso gases contaminantes criterio — Proyecto 61134 · Convenio 005-2023 INM–UNAL</a:t>
            </a:r>
            <a:br/>
            <a:br/>
            <a:r>
              <a:rPr/>
              <a:t>Laboratorio CALAIRE — Facultad de Minas, Universidad Nacional de Colombia, Sede Medellín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Intercambio Técnico INM–UNAL · 12 de agosto de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Contexto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Marco del encuentro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Convenio 005-2023 INM–UNAL: fortalecimiento de capacidades metrológicas y de innovación de los laboratorios UNAL.</a:t>
            </a:r>
          </a:p>
          <a:p>
            <a:pPr lvl="0"/>
            <a:r>
              <a:rPr/>
              <a:t>Proyecto 61134 (Sede Medellín, Facultad de Minas): </a:t>
            </a:r>
            <a:r>
              <a:rPr i="1"/>
              <a:t>Implementación de ensayos de aptitud en la matriz aire. Caso gases contaminantes criterio</a:t>
            </a:r>
            <a:r>
              <a:rPr/>
              <a:t>.</a:t>
            </a:r>
          </a:p>
          <a:p>
            <a:pPr lvl="0"/>
            <a:r>
              <a:rPr/>
              <a:t>Intercambio técnico: espacio de cooperación entre expertos, no de control — orientado a identificar riesgos y oportunidades de articulación.</a:t>
            </a:r>
          </a:p>
          <a:p>
            <a:pPr lvl="0"/>
            <a:r>
              <a:rPr b="1"/>
              <a:t>Cortes de información:</a:t>
            </a:r>
            <a:r>
              <a:rPr/>
              <a:t> línea base del seguimiento 09 al </a:t>
            </a:r>
            <a:r>
              <a:rPr b="1"/>
              <a:t>8-jul-2026</a:t>
            </a:r>
            <a:r>
              <a:rPr/>
              <a:t> y actualización técnica al </a:t>
            </a:r>
            <a:r>
              <a:rPr b="1"/>
              <a:t>12-ago-2026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 y criterio de seguimiento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Objetivos y resultados esperados del proyecto 61134.</a:t>
            </a:r>
          </a:p>
          <a:p>
            <a:pPr lvl="0" indent="-342900" marL="342900">
              <a:buAutoNum type="arabicPeriod"/>
            </a:pPr>
            <a:r>
              <a:rPr/>
              <a:t>Avances técnicos y medios de verificación.</a:t>
            </a:r>
          </a:p>
          <a:p>
            <a:pPr lvl="0" indent="-342900" marL="342900">
              <a:buAutoNum type="arabicPeriod"/>
            </a:pPr>
            <a:r>
              <a:rPr/>
              <a:t>Piloto, aplicativos e integración al sistema de gestión.</a:t>
            </a:r>
          </a:p>
          <a:p>
            <a:pPr lvl="0" indent="-342900" marL="342900">
              <a:buAutoNum type="arabicPeriod"/>
            </a:pPr>
            <a:r>
              <a:rPr/>
              <a:t>Pendientes, dificultades y fecha de finalización.</a:t>
            </a:r>
          </a:p>
          <a:p>
            <a:pPr lvl="0" indent="-342900" marL="342900">
              <a:buAutoNum type="arabicPeriod"/>
            </a:pPr>
            <a:r>
              <a:rPr/>
              <a:t>Riesgos y oportunidades de articulación con el INM.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Objetivos del proyecto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Objetivo general y alcance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Objetivo:</a:t>
            </a:r>
            <a:r>
              <a:rPr/>
              <a:t> establecer un servicio de comparaciones interlaboratorios y/o ensayos de aptitud (EA) para la evaluación competente, imparcial e independiente del desempeño de laboratorios y redes de monitoreo de calidad del aire del país y la región.</a:t>
            </a:r>
          </a:p>
          <a:p>
            <a:pPr lvl="0"/>
            <a:r>
              <a:rPr b="1"/>
              <a:t>Alcance:</a:t>
            </a:r>
            <a:r>
              <a:rPr/>
              <a:t> CO, SO₂, O₃ y óxidos de nitrógeno, con mediciones específicas de NO y NO₂ según la ronda.</a:t>
            </a:r>
          </a:p>
          <a:p>
            <a:pPr lvl="0"/>
            <a:r>
              <a:rPr b="1"/>
              <a:t>Base normativa:</a:t>
            </a:r>
            <a:r>
              <a:rPr/>
              <a:t> ISO/IEC 17043:2023 (proveedores de ensayos de aptitud) e ISO 13528:2017 (métodos estadísticos).</a:t>
            </a:r>
          </a:p>
          <a:p>
            <a:pPr lvl="0"/>
            <a:r>
              <a:rPr b="1"/>
              <a:t>Articulación:</a:t>
            </a:r>
            <a:r>
              <a:rPr/>
              <a:t> sistema de gestión del Laboratorio CALAIRE bajo NTC ISO/IEC 17025.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Objetivos específicos — base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O1. Identificar procedimientos internacionales</a:t>
            </a:r>
            <a:r>
              <a:rPr/>
              <a:t> mediante estudio bibliográfico.</a:t>
            </a:r>
            <a:br/>
            <a:r>
              <a:rPr i="1"/>
              <a:t>Verificación:</a:t>
            </a:r>
            <a:r>
              <a:rPr/>
              <a:t> informe de estado del arte — </a:t>
            </a:r>
            <a:r>
              <a:rPr b="1"/>
              <a:t>100 %</a:t>
            </a:r>
            <a:r>
              <a:rPr/>
              <a:t>.</a:t>
            </a:r>
          </a:p>
          <a:p>
            <a:pPr lvl="0"/>
            <a:r>
              <a:rPr b="1"/>
              <a:t>O2. Elaborar los protocolos</a:t>
            </a:r>
            <a:r>
              <a:rPr/>
              <a:t> para los gases del alcance.</a:t>
            </a:r>
            <a:br/>
            <a:r>
              <a:rPr i="1"/>
              <a:t>Verificación:</a:t>
            </a:r>
            <a:r>
              <a:rPr/>
              <a:t> protocolo general y cuatro procedimientos — </a:t>
            </a:r>
            <a:r>
              <a:rPr b="1"/>
              <a:t>100 %</a:t>
            </a:r>
            <a:r>
              <a:rPr/>
              <a:t>.</a:t>
            </a:r>
          </a:p>
          <a:p>
            <a:pPr lvl="0"/>
            <a:r>
              <a:rPr b="1"/>
              <a:t>O3. Definir la metodología estadística y desarrollar el aplicativo libre.</a:t>
            </a:r>
            <a:br/>
            <a:r>
              <a:rPr i="1"/>
              <a:t>Verificación:</a:t>
            </a:r>
            <a:r>
              <a:rPr/>
              <a:t> aplicativo e informe de validación/análisis — </a:t>
            </a:r>
            <a:r>
              <a:rPr b="1"/>
              <a:t>100 %</a:t>
            </a:r>
            <a:r>
              <a:rPr/>
              <a:t>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Objetivos específicos — validación y sostenibilidad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O4. Desarrollar la prueba piloto</a:t>
            </a:r>
            <a:r>
              <a:rPr/>
              <a:t> y ajustar protocolos y aplicativo.</a:t>
            </a:r>
            <a:br/>
            <a:r>
              <a:rPr i="1"/>
              <a:t>Línea base:</a:t>
            </a:r>
            <a:r>
              <a:rPr/>
              <a:t> </a:t>
            </a:r>
            <a:r>
              <a:rPr b="1"/>
              <a:t>86,7 %</a:t>
            </a:r>
            <a:r>
              <a:rPr/>
              <a:t>; actualización: tres rondas ejecutadas y ronda multiparticipante pendiente.</a:t>
            </a:r>
          </a:p>
          <a:p>
            <a:pPr lvl="0"/>
            <a:r>
              <a:rPr b="1"/>
              <a:t>O5. Integrar los protocolos al sistema de gestión de CALAIRE.</a:t>
            </a:r>
            <a:br/>
            <a:r>
              <a:rPr i="1"/>
              <a:t>Línea base:</a:t>
            </a:r>
            <a:r>
              <a:rPr/>
              <a:t> </a:t>
            </a:r>
            <a:r>
              <a:rPr b="1"/>
              <a:t>50 %</a:t>
            </a:r>
            <a:r>
              <a:rPr/>
              <a:t>; documentos finales en revisión y control de cambios.</a:t>
            </a:r>
          </a:p>
          <a:p>
            <a:pPr lvl="0"/>
            <a:r>
              <a:rPr b="1"/>
              <a:t>O6. Desarrollar costeo, política de precios y condiciones del servicio.</a:t>
            </a:r>
            <a:br/>
            <a:r>
              <a:rPr i="1"/>
              <a:t>Línea base:</a:t>
            </a:r>
            <a:r>
              <a:rPr/>
              <a:t> </a:t>
            </a:r>
            <a:r>
              <a:rPr b="1"/>
              <a:t>0 %</a:t>
            </a:r>
            <a:r>
              <a:rPr/>
              <a:t>; insumos técnicos y viabilidad en elaboración.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Resultados esperados del proyecto 61134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esperados — desarrollo técnico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R1. Estado del arte:</a:t>
            </a:r>
            <a:r>
              <a:rPr/>
              <a:t> informe terminado.</a:t>
            </a:r>
          </a:p>
          <a:p>
            <a:pPr lvl="0"/>
            <a:r>
              <a:rPr b="1"/>
              <a:t>R2. Protocolo general y cuatro procedimientos:</a:t>
            </a:r>
            <a:r>
              <a:rPr/>
              <a:t> versión final, en integración al SGC.</a:t>
            </a:r>
          </a:p>
          <a:p>
            <a:pPr lvl="0"/>
            <a:r>
              <a:rPr b="1"/>
              <a:t>R3. Instructivo de embalaje y transporte:</a:t>
            </a:r>
            <a:r>
              <a:rPr/>
              <a:t> terminado.</a:t>
            </a:r>
          </a:p>
          <a:p>
            <a:pPr lvl="0"/>
            <a:r>
              <a:rPr b="1"/>
              <a:t>R4. Prueba piloto:</a:t>
            </a:r>
            <a:r>
              <a:rPr/>
              <a:t> informe en consolidación; rondas adicionales pendientes.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esperados — operación del servicio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R5. Aplicativo estadístico libre e informe de análisis:</a:t>
            </a:r>
            <a:r>
              <a:rPr/>
              <a:t> pt_app y validación entregados; falta prueba final como usuario.</a:t>
            </a:r>
          </a:p>
          <a:p>
            <a:pPr lvl="0"/>
            <a:r>
              <a:rPr b="1"/>
              <a:t>R6. Protocolos finales integrados al SGC:</a:t>
            </a:r>
            <a:r>
              <a:rPr/>
              <a:t> documentos controlados e informe de actualización en curso.</a:t>
            </a:r>
          </a:p>
          <a:p>
            <a:pPr lvl="0"/>
            <a:r>
              <a:rPr b="1"/>
              <a:t>R7. Costeo, política de precios, condiciones y portafolio:</a:t>
            </a:r>
            <a:r>
              <a:rPr/>
              <a:t> modelo de costos y oferta actualizada en elaboración.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Avances técnicos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Estado del arte y protocolos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Informe de estado del arte </a:t>
            </a:r>
            <a:r>
              <a:rPr b="1"/>
              <a:t>terminado</a:t>
            </a:r>
            <a:r>
              <a:rPr/>
              <a:t>: procedimientos internacionales de EA, requisitos de trazabilidad metrológica y criterios de aceptación de las mediciones.</a:t>
            </a:r>
          </a:p>
          <a:p>
            <a:pPr lvl="0"/>
            <a:r>
              <a:rPr b="1"/>
              <a:t>Cinco documentos técnicos en versión final</a:t>
            </a:r>
            <a:r>
              <a:rPr/>
              <a:t> —un protocolo general y cuatro procedimientos de medición— remitidos para revisión e integración al sistema de gestión (control de cambios en curso).</a:t>
            </a:r>
          </a:p>
          <a:p>
            <a:pPr lvl="0"/>
            <a:r>
              <a:rPr/>
              <a:t>Estructura documental del servicio bajo el proceso PSEA: formatos (F-PSEA), instructivos (I-PSEA) y documentos guía (DG-PSEA).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Marco estadístico definido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Metodología de comparación conforme a ISO 13528: estimadores robustos — </a:t>
            </a:r>
            <a:r>
              <a:rPr b="1"/>
              <a:t>Algoritmo A, NIQR, MADe</a:t>
            </a:r>
            <a:r>
              <a:rPr/>
              <a:t> — implementados y verificados en el aplicativo estadístico.</a:t>
            </a:r>
          </a:p>
          <a:p>
            <a:pPr lvl="0"/>
            <a:r>
              <a:rPr b="1"/>
              <a:t>Puntajes Z y Z’ adoptados como métricas iniciales de desempeño</a:t>
            </a:r>
            <a:r>
              <a:rPr/>
              <a:t>: ISO 17043 permite avanzar sin exigir la incertidumbre reportada por el participante.</a:t>
            </a:r>
          </a:p>
          <a:p>
            <a:pPr lvl="0"/>
            <a:r>
              <a:rPr/>
              <a:t>Homogeneidad y estabilidad de los ítems de ensayo evaluadas con ANOVA y pruebas t.</a:t>
            </a:r>
          </a:p>
          <a:p>
            <a:pPr lvl="0"/>
            <a:r>
              <a:rPr/>
              <a:t>Estrategia para consolidar la desviación estándar del ensayo: </a:t>
            </a:r>
            <a:r>
              <a:rPr b="1"/>
              <a:t>réplicas internas del proceso de medición + rondas adicionales</a:t>
            </a:r>
            <a:r>
              <a:rPr/>
              <a:t> (meta: &gt;12 datos por analito); revisión comparativa de normas europeas y handbook EPA para métricas complementarias.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Prueba piloto — rondas ejecutadas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Analitos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Fecha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EA-PP2026-R1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 / SO₂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Ronda simple, 1 participante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Semana 20-abr-2026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EA-PP2026-R2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O₃ / NO / NO₂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Ejecutada con participante único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Semana 27-abr-2026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EA-PP2026-R3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O₃ / NO / NO₂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Ronda simple, participante Corantioquia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al 17-jul-2026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Secuencia operativa validada: instalación, calibración multipunto, medición por niveles (cero + 4 niveles descendentes), devolución y cierre logístico.</a:t>
            </a:r>
          </a:p>
          <a:p>
            <a:pPr lvl="0"/>
            <a:r>
              <a:rPr/>
              <a:t>R3 replicó el flujo con un </a:t>
            </a:r>
            <a:r>
              <a:rPr b="1"/>
              <a:t>segundo laboratorio participante</a:t>
            </a:r>
            <a:r>
              <a:rPr/>
              <a:t> y parque instrumental distinto: corridas de O₃, NO y NO₂ (esta última por titulación en fase gaseosa, GPT), con operación nocturna continua de 13–15 h por contaminante.</a:t>
            </a:r>
          </a:p>
          <a:p>
            <a:pPr lvl="0"/>
            <a:r>
              <a:rPr b="1"/>
              <a:t>Próximas rondas:</a:t>
            </a:r>
            <a:r>
              <a:rPr/>
              <a:t> ronda con participantes con conjunto completo de analizadores; réplica de CO/SO₂ con participante que disponga de esos analizadores; réplicas internas; ronda con 4–5 participantes para habilitar estimación robusta (MADe).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imeline_pilot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16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Cronología de la prueba piloto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Balance del piloto — validación operativa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Generación de ítems, logística en sitio y secuencias de medición </a:t>
            </a:r>
            <a:r>
              <a:rPr b="1"/>
              <a:t>validadas en tres rondas</a:t>
            </a:r>
            <a:r>
              <a:rPr/>
              <a:t>, con dos laboratorios participantes.</a:t>
            </a:r>
          </a:p>
          <a:p>
            <a:pPr lvl="0"/>
            <a:r>
              <a:rPr/>
              <a:t>R3 demostró la repetibilidad del flujo: instalación, calibración, operación continua, desmontaje y cierre de registros.</a:t>
            </a:r>
          </a:p>
          <a:p>
            <a:pPr lvl="0"/>
            <a:r>
              <a:rPr/>
              <a:t>Generación de NO₂ por titulación en fase gaseosa (GPT) ejecutada durante R3.</a:t>
            </a:r>
          </a:p>
          <a:p>
            <a:pPr lvl="0"/>
            <a:r>
              <a:rPr/>
              <a:t>Instructivo de cálculo y reporte entregado desde R3: ventanas horarias, promedios e incertidumbre expandida.</a:t>
            </a:r>
          </a:p>
          <a:p>
            <a:pPr lvl="0"/>
            <a:r>
              <a:rPr/>
              <a:t>Evaluación de desempeño viable con puntajes Z/Z’ aun sin incertidumbres reportadas por los participantes.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Balance del piloto — lecciones y restricciones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Lecciones registradas en F-PSEA-15:</a:t>
            </a:r>
          </a:p>
          <a:p>
            <a:pPr lvl="1"/>
            <a:r>
              <a:rPr/>
              <a:t>Verificar repuestos y sistema GPT antes de la ronda (F-PSEA-08).</a:t>
            </a:r>
          </a:p>
          <a:p>
            <a:pPr lvl="1"/>
            <a:r>
              <a:rPr/>
              <a:t>Controlar la temperatura para O₃ y reservar aire cero para calibración e ítems.</a:t>
            </a:r>
          </a:p>
          <a:p>
            <a:pPr lvl="1"/>
            <a:r>
              <a:rPr/>
              <a:t>Exigir llegada previa de equipos y disponibilidad del participante durante el ensayo.</a:t>
            </a:r>
          </a:p>
          <a:p>
            <a:pPr lvl="0"/>
            <a:r>
              <a:rPr b="1"/>
              <a:t>Restricciones:</a:t>
            </a:r>
            <a:r>
              <a:rPr/>
              <a:t> manifold de una salida y ausencia de control térmico para mediciones prolongadas.</a:t>
            </a:r>
          </a:p>
          <a:p>
            <a:pPr lvl="0"/>
            <a:r>
              <a:rPr b="1"/>
              <a:t>Consecuencia:</a:t>
            </a:r>
            <a:r>
              <a:rPr/>
              <a:t> la ronda multiparticipante requiere mejoras de infraestructura y disponibilidad del T700U.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Integración al sistema de gestión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Mapeo de requisitos de ISO/IEC 17043:2023 sobre la estructura documental del laboratorio.</a:t>
            </a:r>
          </a:p>
          <a:p>
            <a:pPr lvl="0"/>
            <a:r>
              <a:rPr/>
              <a:t>Módulo de gestión centralizado del esquema: rondas, participantes, requisitos documentales y registros.</a:t>
            </a:r>
          </a:p>
          <a:p>
            <a:pPr lvl="0"/>
            <a:r>
              <a:rPr/>
              <a:t>Documentos del servicio en flujo de revisión y control de cambios para su incorporación formal al SGC (NTC ISO/IEC 17025).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Aplicativos desarrollados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pt_app — evaluación estadística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Aplicativo estadístico en </a:t>
            </a:r>
            <a:r>
              <a:rPr b="1"/>
              <a:t>software libre (R/Shiny)</a:t>
            </a:r>
            <a:r>
              <a:rPr/>
              <a:t> para la evaluación de resultados y elaboración de informes de los EA (DG-PSEA-03), desplegado en shinyapps.io:</a:t>
            </a:r>
          </a:p>
          <a:p>
            <a:pPr lvl="0"/>
            <a:r>
              <a:rPr/>
              <a:t>Carga y validación de datos de participantes.</a:t>
            </a:r>
          </a:p>
          <a:p>
            <a:pPr lvl="0"/>
            <a:r>
              <a:rPr/>
              <a:t>Homogeneidad y estabilidad de ítems (ANOVA, t-test).</a:t>
            </a:r>
          </a:p>
          <a:p>
            <a:pPr lvl="0"/>
            <a:r>
              <a:rPr/>
              <a:t>Núcleo robusto: Algoritmo A, NIQR, MADe.</a:t>
            </a:r>
          </a:p>
          <a:p>
            <a:pPr lvl="0"/>
            <a:r>
              <a:rPr/>
              <a:t>Puntajes de desempeño e informe automatizado (R Markdown).</a:t>
            </a:r>
          </a:p>
          <a:p>
            <a:pPr lvl="0"/>
            <a:r>
              <a:rPr/>
              <a:t>Dashboards interactivos: boxplots, histogramas, gráficos de puntajes.</a:t>
            </a:r>
          </a:p>
          <a:p>
            <a:pPr lvl="0" indent="0" marL="0">
              <a:buNone/>
            </a:pPr>
            <a:r>
              <a:rPr b="1"/>
              <a:t>Estado:</a:t>
            </a:r>
            <a:r>
              <a:rPr/>
              <a:t> entregado en su totalidad con documentación e informe de validación de cálculos y procesos; pendiente únicamente la prueba como usuario final en la última ronda del piloto.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calaire-app — gestión de rondas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Aplicativo de gestión de rondas del esquema de ensayos de aptitud (DG-PSEA-02), versión actual en desarrollo (calaire-app2):</a:t>
            </a:r>
          </a:p>
          <a:p>
            <a:pPr lvl="0"/>
            <a:r>
              <a:rPr/>
              <a:t>Administración de rondas, participantes e inscripciones.</a:t>
            </a:r>
          </a:p>
          <a:p>
            <a:pPr lvl="0"/>
            <a:r>
              <a:rPr/>
              <a:t>Trazabilidad de requisitos documentales de ISO/IEC 17043.</a:t>
            </a:r>
          </a:p>
          <a:p>
            <a:pPr lvl="0"/>
            <a:r>
              <a:rPr/>
              <a:t>Soporte a la operación del piloto y a la formalización del servicio.</a:t>
            </a:r>
          </a:p>
          <a:p>
            <a:pPr lvl="0" indent="0" marL="0">
              <a:buNone/>
            </a:pPr>
            <a:r>
              <a:rPr b="1"/>
              <a:t>Mejoras derivadas del piloto:</a:t>
            </a:r>
            <a:r>
              <a:rPr/>
              <a:t> asignación de identificadores aleatorios a participantes (confidencialidad) y ajuste del flujo de descarga y almacenamiento de datos crudos.</a:t>
            </a:r>
          </a:p>
          <a:p>
            <a:pPr lvl="0" indent="0" marL="0">
              <a:buNone/>
            </a:pPr>
            <a:r>
              <a:rPr b="1"/>
              <a:t>Estado:</a:t>
            </a:r>
            <a:r>
              <a:rPr/>
              <a:t> entregado; pendiente únicamente la prueba operativa en la última ronda del piloto.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Resultados, cronograma y finalización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a la fecha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Estado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Informe de estado del arte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Terminado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Protocolo general + cuatro procedimientos de medición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Versión final, en integración al SGC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Instructivo embalaje y transporte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Terminado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Prueba piloto interna (R1, R2, R3)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Ejecutada; informes operativos emitidos (v3-1 para R1/R2; R3 Corantioquia v1)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Marco estadístico (Z/Z’, robustos)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Definido y formalizado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pt_app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Entregado; pendiente prueba en última ronda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calaire-app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Entregado; pendiente prueba en última ronda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Costeo del servicio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Insumos técnicos en elaboración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Cronograma de actividades pendientes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Rondas adicionales: réplicas internas sin participantes externos, réplica de CO/SO₂ con participante habilitado y ronda multiparticipante (4–5) para muestra intercomparativa.</a:t>
            </a:r>
          </a:p>
          <a:p>
            <a:pPr lvl="0"/>
            <a:r>
              <a:rPr/>
              <a:t>Mejoras de infraestructura: manifold multi-salida y control térmico del área de prueba, previas al escalamiento multi-participante.</a:t>
            </a:r>
          </a:p>
          <a:p>
            <a:pPr lvl="0"/>
            <a:r>
              <a:rPr/>
              <a:t>Consolidación de la desviación estándar del ensayo y de la reproducibilidad intermedia.</a:t>
            </a:r>
          </a:p>
          <a:p>
            <a:pPr lvl="0"/>
            <a:r>
              <a:rPr/>
              <a:t>Cierre del ciclo de validación del aplicativo estadístico como usuario final.</a:t>
            </a:r>
          </a:p>
          <a:p>
            <a:pPr lvl="0"/>
            <a:r>
              <a:rPr/>
              <a:t>Integración final de protocolos y procedimientos al SGC con control de cambios.</a:t>
            </a:r>
          </a:p>
          <a:p>
            <a:pPr lvl="0"/>
            <a:r>
              <a:rPr/>
              <a:t>Costeo y análisis de viabilidad del servicio postpiloto.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antt_pilot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17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Cronograma de la prueba piloto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Fecha de finalización proyectada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Ejecución contractual del rol técnico líder proyectada a </a:t>
            </a:r>
            <a:r>
              <a:rPr b="1"/>
              <a:t>diciembre de 2026</a:t>
            </a:r>
            <a:r>
              <a:rPr/>
              <a:t>.</a:t>
            </a:r>
          </a:p>
          <a:p>
            <a:pPr lvl="0"/>
            <a:r>
              <a:rPr/>
              <a:t>La reprogramación de rondas por la indisponibilidad temporal del calibrador dinámico motivó la </a:t>
            </a:r>
            <a:r>
              <a:rPr b="1"/>
              <a:t>solicitud de prórroga por 60 días ante la instancia de seguimiento institucional</a:t>
            </a:r>
            <a:r>
              <a:rPr/>
              <a:t>, para asegurar el cierre completo de rondas pendientes y la validación estadística; no se presenta como aprobada mientras no exista confirmación formal.</a:t>
            </a:r>
          </a:p>
          <a:p>
            <a:pPr lvl="0"/>
            <a:r>
              <a:rPr/>
              <a:t>Hitos de cierre: rondas restantes → consolidación estadística → informe final del piloto → protocolos integrados al SGC → servicio listo para etapa comercial.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Dificultades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Dificultades técnicas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Calibrador dinámico T700U:</a:t>
            </a:r>
            <a:r>
              <a:rPr/>
              <a:t> en garantía con el proveedor y actualmente en pruebas de verificación.</a:t>
            </a:r>
          </a:p>
          <a:p>
            <a:pPr lvl="0"/>
            <a:r>
              <a:rPr b="1"/>
              <a:t>Impacto:</a:t>
            </a:r>
            <a:r>
              <a:rPr/>
              <a:t> disponibilidad para la ronda multiparticipante; la R3 operativa con Corantioquia sí fue ejecutada.</a:t>
            </a:r>
          </a:p>
          <a:p>
            <a:pPr lvl="0"/>
            <a:r>
              <a:rPr b="1"/>
              <a:t>Mitigación:</a:t>
            </a:r>
            <a:r>
              <a:rPr/>
              <a:t> reprogramación, solicitud de prórroga por 60 días y seguimiento formal de la garantía.</a:t>
            </a:r>
          </a:p>
          <a:p>
            <a:pPr lvl="0"/>
            <a:r>
              <a:rPr b="1"/>
              <a:t>Incertidumbre no reportada por participantes:</a:t>
            </a:r>
            <a:r>
              <a:rPr/>
              <a:t> evaluación inicial con puntajes Z/Z’ y apoyo experto para el modelo de incertidumbre.</a:t>
            </a:r>
          </a:p>
          <a:p>
            <a:pPr lvl="0"/>
            <a:r>
              <a:rPr b="1"/>
              <a:t>Infraestructura:</a:t>
            </a:r>
            <a:r>
              <a:rPr/>
              <a:t> manifold de una salida, generación de aire cero y falta de control térmico; en R3 se observaron 18–23 °C, relevantes para O₃.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Dificultades administrativas y sostenibilidad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Coordinación de la participación externa: inasistencias institucionales obligaron a reprogramar la ronda multiparticipante.</a:t>
            </a:r>
          </a:p>
          <a:p>
            <a:pPr lvl="0"/>
            <a:r>
              <a:rPr/>
              <a:t>Continuidad de la capacidad técnica del equipo del proyecto entre etapas contractuales.</a:t>
            </a:r>
          </a:p>
          <a:p>
            <a:pPr lvl="0"/>
            <a:r>
              <a:rPr/>
              <a:t>Sostenibilidad: transición del piloto a un servicio comercializable exige finalizar protocolos, consolidar el modelo de costos y asegurar la infraestructura de generación de ítems.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Insumos para la matriz de riesgos y articulación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Categoría (formato INM)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Riesgo preliminar identificado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Objetivos y alcance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Retraso en rondas por disponibilidad del calibrador T700U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Entregables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Desviación estándar del ensayo con muestra aún insuficiente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Técnicas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Incertidumbre de participantes no reportada; límite de infraestructura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Administrativas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Tiempos de garantía del proveedor; continuidad contractual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Oportunidades de articulación con el INM:</a:t>
            </a:r>
            <a:r>
              <a:rPr/>
              <a:t> trazabilidad metrológica de las mezclas de gases, materiales de referencia, asesoría en modelos de incertidumbre del valor asignado y experiencia como proveedor acreditado de EA.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Implementación de ensayos de aptitud en la matriz aire</dc:title>
  <dc:creator>Laboratorio CALAIRE — Facultad de Minas, Universidad Nacional de Colombia, Sede Medellín</dc:creator>
  <cp:keywords/>
  <dcterms:created xsi:type="dcterms:W3CDTF">2026-08-24T01:28:35Z</dcterms:created>
  <dcterms:modified xsi:type="dcterms:W3CDTF">2026-08-24T01:28:35Z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Intercambio Técnico INM–UNAL · 12 de agosto de 2026</vt:lpwstr>
  </property>
  <property fmtid="{D5CDD505-2E9C-101B-9397-08002B2CF9AE}" pid="3" name="subtitle">
    <vt:lpwstr>Caso gases contaminantes criterio — Proyecto 61134 · Convenio 005-2023 INM–UNAL</vt:lpwstr>
  </property>
</Properties>
</file>